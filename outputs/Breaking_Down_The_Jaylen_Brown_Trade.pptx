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A1A"/>
        </a:solidFill>
        <a:effectLst/>
      </p:bgPr>
    </p:bg>
    <p:spTree>
      <p:nvGrpSpPr>
        <p:cNvPr id="1" name=""/>
        <p:cNvGrpSpPr/>
        <p:nvPr/>
      </p:nvGrpSpPr>
      <p:grpSpPr/>
      <p:sp>
        <p:nvSpPr>
          <p:cNvPr id="2" name="Oval 1"/>
          <p:cNvSpPr/>
          <p:nvPr/>
        </p:nvSpPr>
        <p:spPr>
          <a:xfrm>
            <a:off x="566928" y="566928"/>
            <a:ext cx="310896" cy="310896"/>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548640"/>
            <a:ext cx="91440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BCD3C6"/>
                </a:solidFill>
                <a:latin typeface="Calibri"/>
              </a:rPr>
              <a:t>BOSTON CELTICS  ·  FIT CHECK</a:t>
            </a:r>
          </a:p>
        </p:txBody>
      </p:sp>
      <p:sp>
        <p:nvSpPr>
          <p:cNvPr id="4" name="TextBox 3"/>
          <p:cNvSpPr txBox="1"/>
          <p:nvPr/>
        </p:nvSpPr>
        <p:spPr>
          <a:xfrm>
            <a:off x="566928" y="1965960"/>
            <a:ext cx="11064240" cy="1828800"/>
          </a:xfrm>
          <a:prstGeom prst="rect">
            <a:avLst/>
          </a:prstGeom>
          <a:noFill/>
        </p:spPr>
        <p:txBody>
          <a:bodyPr wrap="square" anchor="t" lIns="0" rIns="0" tIns="0" bIns="0">
            <a:spAutoFit/>
          </a:bodyPr>
          <a:lstStyle/>
          <a:p>
            <a:pPr algn="l">
              <a:lnSpc>
                <a:spcPct val="100000"/>
              </a:lnSpc>
              <a:spcAft>
                <a:spcPts val="200"/>
              </a:spcAft>
            </a:pPr>
            <a:r>
              <a:rPr sz="4600" b="1" i="0">
                <a:solidFill>
                  <a:srgbClr val="FFFFFF"/>
                </a:solidFill>
                <a:latin typeface="Cambria"/>
              </a:rPr>
              <a:t>Breaking Down</a:t>
            </a:r>
          </a:p>
          <a:p>
            <a:pPr algn="l">
              <a:lnSpc>
                <a:spcPct val="100000"/>
              </a:lnSpc>
              <a:spcAft>
                <a:spcPts val="200"/>
              </a:spcAft>
            </a:pPr>
            <a:r>
              <a:rPr sz="4600" b="1" i="0">
                <a:solidFill>
                  <a:srgbClr val="BA9653"/>
                </a:solidFill>
                <a:latin typeface="Cambria"/>
              </a:rPr>
              <a:t>the Jaylen Brown Trade</a:t>
            </a:r>
          </a:p>
        </p:txBody>
      </p:sp>
      <p:sp>
        <p:nvSpPr>
          <p:cNvPr id="5" name="TextBox 4"/>
          <p:cNvSpPr txBox="1"/>
          <p:nvPr/>
        </p:nvSpPr>
        <p:spPr>
          <a:xfrm>
            <a:off x="566928" y="3977639"/>
            <a:ext cx="10607040" cy="914400"/>
          </a:xfrm>
          <a:prstGeom prst="rect">
            <a:avLst/>
          </a:prstGeom>
          <a:noFill/>
        </p:spPr>
        <p:txBody>
          <a:bodyPr wrap="square" anchor="t" lIns="0" rIns="0" tIns="0" bIns="0">
            <a:spAutoFit/>
          </a:bodyPr>
          <a:lstStyle/>
          <a:p>
            <a:pPr algn="l">
              <a:lnSpc>
                <a:spcPct val="112000"/>
              </a:lnSpc>
              <a:spcAft>
                <a:spcPts val="400"/>
              </a:spcAft>
            </a:pPr>
            <a:r>
              <a:rPr sz="1700" b="0" i="0">
                <a:solidFill>
                  <a:srgbClr val="CFE0D6"/>
                </a:solidFill>
                <a:latin typeface="Calibri"/>
              </a:rPr>
              <a:t>On July 1, 2026 Boston traded Brown to Philadelphia for Paul George and picks. This is a breakdown on why the trade might not be all bad news for Boston. In the world of "that boy tuff" and analytical basketball, this is a Celtics fan's version of this trade.</a:t>
            </a:r>
          </a:p>
        </p:txBody>
      </p:sp>
      <p:sp>
        <p:nvSpPr>
          <p:cNvPr id="6" name="TextBox 5"/>
          <p:cNvSpPr txBox="1"/>
          <p:nvPr/>
        </p:nvSpPr>
        <p:spPr>
          <a:xfrm>
            <a:off x="566928" y="6035040"/>
            <a:ext cx="10972800" cy="365760"/>
          </a:xfrm>
          <a:prstGeom prst="rect">
            <a:avLst/>
          </a:prstGeom>
          <a:noFill/>
        </p:spPr>
        <p:txBody>
          <a:bodyPr wrap="square" anchor="t" lIns="0" rIns="0" tIns="0" bIns="0">
            <a:spAutoFit/>
          </a:bodyPr>
          <a:lstStyle/>
          <a:p>
            <a:pPr algn="l">
              <a:lnSpc>
                <a:spcPct val="100000"/>
              </a:lnSpc>
              <a:spcAft>
                <a:spcPts val="0"/>
              </a:spcAft>
            </a:pPr>
            <a:r>
              <a:rPr sz="1200" b="0" i="1">
                <a:solidFill>
                  <a:srgbClr val="8FA89B"/>
                </a:solidFill>
                <a:latin typeface="Calibri"/>
              </a:rPr>
              <a:t>Numbers, not takes · nba_api + Basketball-Reference · unit-tested pipeline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SETUP</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2700" b="1" i="0">
                <a:solidFill>
                  <a:srgbClr val="0A2A1A"/>
                </a:solidFill>
                <a:latin typeface="Cambria"/>
              </a:rPr>
              <a:t>A $53M wing that shoots long twos, and a live or die by the three pointer system</a:t>
            </a:r>
          </a:p>
        </p:txBody>
      </p:sp>
      <p:sp>
        <p:nvSpPr>
          <p:cNvPr id="4" name="Rounded Rectangle 3"/>
          <p:cNvSpPr/>
          <p:nvPr/>
        </p:nvSpPr>
        <p:spPr>
          <a:xfrm>
            <a:off x="566928" y="1874519"/>
            <a:ext cx="3502152" cy="214884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84831"/>
            <a:ext cx="3044952" cy="822960"/>
          </a:xfrm>
          <a:prstGeom prst="rect">
            <a:avLst/>
          </a:prstGeom>
          <a:noFill/>
        </p:spPr>
        <p:txBody>
          <a:bodyPr wrap="square" anchor="t" lIns="0" rIns="0" tIns="0" bIns="0">
            <a:spAutoFit/>
          </a:bodyPr>
          <a:lstStyle/>
          <a:p>
            <a:pPr algn="l">
              <a:lnSpc>
                <a:spcPct val="100000"/>
              </a:lnSpc>
              <a:spcAft>
                <a:spcPts val="0"/>
              </a:spcAft>
            </a:pPr>
            <a:r>
              <a:rPr sz="4400" b="1" i="0">
                <a:solidFill>
                  <a:srgbClr val="007A33"/>
                </a:solidFill>
                <a:latin typeface="Cambria"/>
              </a:rPr>
              <a:t>34.4%</a:t>
            </a:r>
          </a:p>
        </p:txBody>
      </p:sp>
      <p:sp>
        <p:nvSpPr>
          <p:cNvPr id="6" name="TextBox 5"/>
          <p:cNvSpPr txBox="1"/>
          <p:nvPr/>
        </p:nvSpPr>
        <p:spPr>
          <a:xfrm>
            <a:off x="841247" y="2999232"/>
            <a:ext cx="2999232" cy="365760"/>
          </a:xfrm>
          <a:prstGeom prst="rect">
            <a:avLst/>
          </a:prstGeom>
          <a:noFill/>
        </p:spPr>
        <p:txBody>
          <a:bodyPr wrap="square" anchor="t" lIns="0" rIns="0" tIns="0" bIns="0">
            <a:spAutoFit/>
          </a:bodyPr>
          <a:lstStyle/>
          <a:p>
            <a:pPr algn="l">
              <a:lnSpc>
                <a:spcPct val="100000"/>
              </a:lnSpc>
              <a:spcAft>
                <a:spcPts val="0"/>
              </a:spcAft>
            </a:pPr>
            <a:r>
              <a:rPr sz="1500" b="1" i="0">
                <a:solidFill>
                  <a:srgbClr val="0A2A1A"/>
                </a:solidFill>
                <a:latin typeface="Calibri"/>
              </a:rPr>
              <a:t>of the salary cap</a:t>
            </a:r>
          </a:p>
        </p:txBody>
      </p:sp>
      <p:sp>
        <p:nvSpPr>
          <p:cNvPr id="7" name="TextBox 6"/>
          <p:cNvSpPr txBox="1"/>
          <p:nvPr/>
        </p:nvSpPr>
        <p:spPr>
          <a:xfrm>
            <a:off x="841247" y="3346704"/>
            <a:ext cx="2999232" cy="640080"/>
          </a:xfrm>
          <a:prstGeom prst="rect">
            <a:avLst/>
          </a:prstGeom>
          <a:noFill/>
        </p:spPr>
        <p:txBody>
          <a:bodyPr wrap="square" anchor="t" lIns="0" rIns="0" tIns="0" bIns="0">
            <a:spAutoFit/>
          </a:bodyPr>
          <a:lstStyle/>
          <a:p>
            <a:pPr algn="l">
              <a:lnSpc>
                <a:spcPct val="105000"/>
              </a:lnSpc>
              <a:spcAft>
                <a:spcPts val="400"/>
              </a:spcAft>
            </a:pPr>
            <a:r>
              <a:rPr sz="1250" b="0" i="0">
                <a:solidFill>
                  <a:srgbClr val="6B7280"/>
                </a:solidFill>
                <a:latin typeface="Calibri"/>
              </a:rPr>
              <a:t>$53.1M in 2025-26 — over a third of the sheet on one wing</a:t>
            </a:r>
          </a:p>
        </p:txBody>
      </p:sp>
      <p:sp>
        <p:nvSpPr>
          <p:cNvPr id="8" name="Rounded Rectangle 7"/>
          <p:cNvSpPr/>
          <p:nvPr/>
        </p:nvSpPr>
        <p:spPr>
          <a:xfrm>
            <a:off x="4352544" y="1874519"/>
            <a:ext cx="3502152" cy="214884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8576" y="2084831"/>
            <a:ext cx="3044952" cy="822960"/>
          </a:xfrm>
          <a:prstGeom prst="rect">
            <a:avLst/>
          </a:prstGeom>
          <a:noFill/>
        </p:spPr>
        <p:txBody>
          <a:bodyPr wrap="square" anchor="t" lIns="0" rIns="0" tIns="0" bIns="0">
            <a:spAutoFit/>
          </a:bodyPr>
          <a:lstStyle/>
          <a:p>
            <a:pPr algn="l">
              <a:lnSpc>
                <a:spcPct val="100000"/>
              </a:lnSpc>
              <a:spcAft>
                <a:spcPts val="0"/>
              </a:spcAft>
            </a:pPr>
            <a:r>
              <a:rPr sz="4400" b="1" i="0">
                <a:solidFill>
                  <a:srgbClr val="B3403A"/>
                </a:solidFill>
                <a:latin typeface="Cambria"/>
              </a:rPr>
              <a:t>+16%</a:t>
            </a:r>
          </a:p>
        </p:txBody>
      </p:sp>
      <p:sp>
        <p:nvSpPr>
          <p:cNvPr id="10" name="TextBox 9"/>
          <p:cNvSpPr txBox="1"/>
          <p:nvPr/>
        </p:nvSpPr>
        <p:spPr>
          <a:xfrm>
            <a:off x="4626864" y="2999232"/>
            <a:ext cx="2999232" cy="365760"/>
          </a:xfrm>
          <a:prstGeom prst="rect">
            <a:avLst/>
          </a:prstGeom>
          <a:noFill/>
        </p:spPr>
        <p:txBody>
          <a:bodyPr wrap="square" anchor="t" lIns="0" rIns="0" tIns="0" bIns="0">
            <a:spAutoFit/>
          </a:bodyPr>
          <a:lstStyle/>
          <a:p>
            <a:pPr algn="l">
              <a:lnSpc>
                <a:spcPct val="100000"/>
              </a:lnSpc>
              <a:spcAft>
                <a:spcPts val="0"/>
              </a:spcAft>
            </a:pPr>
            <a:r>
              <a:rPr sz="1500" b="1" i="0">
                <a:solidFill>
                  <a:srgbClr val="0A2A1A"/>
                </a:solidFill>
                <a:latin typeface="Calibri"/>
              </a:rPr>
              <a:t>worse shot diet, YoY</a:t>
            </a:r>
          </a:p>
        </p:txBody>
      </p:sp>
      <p:sp>
        <p:nvSpPr>
          <p:cNvPr id="11" name="TextBox 10"/>
          <p:cNvSpPr txBox="1"/>
          <p:nvPr/>
        </p:nvSpPr>
        <p:spPr>
          <a:xfrm>
            <a:off x="4626864" y="3346704"/>
            <a:ext cx="2999232" cy="640080"/>
          </a:xfrm>
          <a:prstGeom prst="rect">
            <a:avLst/>
          </a:prstGeom>
          <a:noFill/>
        </p:spPr>
        <p:txBody>
          <a:bodyPr wrap="square" anchor="t" lIns="0" rIns="0" tIns="0" bIns="0">
            <a:spAutoFit/>
          </a:bodyPr>
          <a:lstStyle/>
          <a:p>
            <a:pPr algn="l">
              <a:lnSpc>
                <a:spcPct val="105000"/>
              </a:lnSpc>
              <a:spcAft>
                <a:spcPts val="400"/>
              </a:spcAft>
            </a:pPr>
            <a:r>
              <a:rPr sz="1250" b="0" i="0">
                <a:solidFill>
                  <a:srgbClr val="6B7280"/>
                </a:solidFill>
                <a:latin typeface="Calibri"/>
              </a:rPr>
              <a:t>bad-shot index 0.328 → 0.379 — drifting away from the system</a:t>
            </a:r>
          </a:p>
        </p:txBody>
      </p:sp>
      <p:sp>
        <p:nvSpPr>
          <p:cNvPr id="12" name="Rounded Rectangle 11"/>
          <p:cNvSpPr/>
          <p:nvPr/>
        </p:nvSpPr>
        <p:spPr>
          <a:xfrm>
            <a:off x="8138159" y="1874519"/>
            <a:ext cx="3502152" cy="214884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94191" y="2084831"/>
            <a:ext cx="3044952" cy="822960"/>
          </a:xfrm>
          <a:prstGeom prst="rect">
            <a:avLst/>
          </a:prstGeom>
          <a:noFill/>
        </p:spPr>
        <p:txBody>
          <a:bodyPr wrap="square" anchor="t" lIns="0" rIns="0" tIns="0" bIns="0">
            <a:spAutoFit/>
          </a:bodyPr>
          <a:lstStyle/>
          <a:p>
            <a:pPr algn="l">
              <a:lnSpc>
                <a:spcPct val="100000"/>
              </a:lnSpc>
              <a:spcAft>
                <a:spcPts val="0"/>
              </a:spcAft>
            </a:pPr>
            <a:r>
              <a:rPr sz="4400" b="1" i="0">
                <a:solidFill>
                  <a:srgbClr val="007A33"/>
                </a:solidFill>
                <a:latin typeface="Cambria"/>
              </a:rPr>
              <a:t>4</a:t>
            </a:r>
          </a:p>
        </p:txBody>
      </p:sp>
      <p:sp>
        <p:nvSpPr>
          <p:cNvPr id="14" name="TextBox 13"/>
          <p:cNvSpPr txBox="1"/>
          <p:nvPr/>
        </p:nvSpPr>
        <p:spPr>
          <a:xfrm>
            <a:off x="8412480" y="2999232"/>
            <a:ext cx="2999232" cy="365760"/>
          </a:xfrm>
          <a:prstGeom prst="rect">
            <a:avLst/>
          </a:prstGeom>
          <a:noFill/>
        </p:spPr>
        <p:txBody>
          <a:bodyPr wrap="square" anchor="t" lIns="0" rIns="0" tIns="0" bIns="0">
            <a:spAutoFit/>
          </a:bodyPr>
          <a:lstStyle/>
          <a:p>
            <a:pPr algn="l">
              <a:lnSpc>
                <a:spcPct val="100000"/>
              </a:lnSpc>
              <a:spcAft>
                <a:spcPts val="0"/>
              </a:spcAft>
            </a:pPr>
            <a:r>
              <a:rPr sz="1500" b="1" i="0">
                <a:solidFill>
                  <a:srgbClr val="0A2A1A"/>
                </a:solidFill>
                <a:latin typeface="Calibri"/>
              </a:rPr>
              <a:t>assets back from PHI</a:t>
            </a:r>
          </a:p>
        </p:txBody>
      </p:sp>
      <p:sp>
        <p:nvSpPr>
          <p:cNvPr id="15" name="TextBox 14"/>
          <p:cNvSpPr txBox="1"/>
          <p:nvPr/>
        </p:nvSpPr>
        <p:spPr>
          <a:xfrm>
            <a:off x="8412480" y="3346704"/>
            <a:ext cx="2999232" cy="640080"/>
          </a:xfrm>
          <a:prstGeom prst="rect">
            <a:avLst/>
          </a:prstGeom>
          <a:noFill/>
        </p:spPr>
        <p:txBody>
          <a:bodyPr wrap="square" anchor="t" lIns="0" rIns="0" tIns="0" bIns="0">
            <a:spAutoFit/>
          </a:bodyPr>
          <a:lstStyle/>
          <a:p>
            <a:pPr algn="l">
              <a:lnSpc>
                <a:spcPct val="105000"/>
              </a:lnSpc>
              <a:spcAft>
                <a:spcPts val="400"/>
              </a:spcAft>
            </a:pPr>
            <a:r>
              <a:rPr sz="1250" b="0" i="0">
                <a:solidFill>
                  <a:srgbClr val="6B7280"/>
                </a:solidFill>
                <a:latin typeface="Calibri"/>
              </a:rPr>
              <a:t>Paul George, a 2028 first, a 2031 unprotected first, two seconds</a:t>
            </a:r>
          </a:p>
        </p:txBody>
      </p:sp>
      <p:sp>
        <p:nvSpPr>
          <p:cNvPr id="16" name="TextBox 15"/>
          <p:cNvSpPr txBox="1"/>
          <p:nvPr/>
        </p:nvSpPr>
        <p:spPr>
          <a:xfrm>
            <a:off x="566928" y="4343400"/>
            <a:ext cx="11064240" cy="1280160"/>
          </a:xfrm>
          <a:prstGeom prst="rect">
            <a:avLst/>
          </a:prstGeom>
          <a:noFill/>
        </p:spPr>
        <p:txBody>
          <a:bodyPr wrap="square" anchor="t" lIns="0" rIns="0" tIns="0" bIns="0">
            <a:spAutoFit/>
          </a:bodyPr>
          <a:lstStyle/>
          <a:p>
            <a:pPr algn="l">
              <a:lnSpc>
                <a:spcPct val="120000"/>
              </a:lnSpc>
              <a:spcAft>
                <a:spcPts val="400"/>
              </a:spcAft>
            </a:pPr>
            <a:r>
              <a:rPr sz="1500" b="1" i="0">
                <a:solidFill>
                  <a:srgbClr val="20232A"/>
                </a:solidFill>
                <a:latin typeface="Calibri"/>
              </a:rPr>
              <a:t>Boston's edge is shooting more threes than opponents. </a:t>
            </a:r>
            <a:r>
              <a:rPr sz="1500" b="0" i="0">
                <a:solidFill>
                  <a:srgbClr val="20232A"/>
                </a:solidFill>
                <a:latin typeface="Calibri"/>
              </a:rPr>
              <a:t>The question this deck answers with data: did Brown's game pull with that identity or against it, and was the return worth it?</a:t>
            </a:r>
          </a:p>
        </p:txBody>
      </p:sp>
      <p:sp>
        <p:nvSpPr>
          <p:cNvPr id="17" name="TextBox 16"/>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SHOT DIET</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The shot profile was drifting away from what Boston wins with</a:t>
            </a:r>
          </a:p>
        </p:txBody>
      </p:sp>
      <p:pic>
        <p:nvPicPr>
          <p:cNvPr id="4" name="Picture 3" descr="case_for_moving_on.png"/>
          <p:cNvPicPr>
            <a:picLocks noChangeAspect="1"/>
          </p:cNvPicPr>
          <p:nvPr/>
        </p:nvPicPr>
        <p:blipFill>
          <a:blip r:embed="rId2"/>
          <a:stretch>
            <a:fillRect/>
          </a:stretch>
        </p:blipFill>
        <p:spPr>
          <a:xfrm>
            <a:off x="457200" y="1600200"/>
            <a:ext cx="6949440" cy="3049337"/>
          </a:xfrm>
          <a:prstGeom prst="rect">
            <a:avLst/>
          </a:prstGeom>
        </p:spPr>
      </p:pic>
      <p:sp>
        <p:nvSpPr>
          <p:cNvPr id="5" name="Oval 4"/>
          <p:cNvSpPr/>
          <p:nvPr/>
        </p:nvSpPr>
        <p:spPr>
          <a:xfrm>
            <a:off x="7726679" y="1819656"/>
            <a:ext cx="146304" cy="146304"/>
          </a:xfrm>
          <a:prstGeom prst="ellipse">
            <a:avLst/>
          </a:prstGeom>
          <a:solidFill>
            <a:srgbClr val="B34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19288" y="1783080"/>
            <a:ext cx="3931920" cy="109728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Fewer threes, doubled long twos</a:t>
            </a:r>
          </a:p>
          <a:p>
            <a:pPr algn="l">
              <a:lnSpc>
                <a:spcPct val="106000"/>
              </a:lnSpc>
              <a:spcAft>
                <a:spcPts val="200"/>
              </a:spcAft>
            </a:pPr>
            <a:r>
              <a:rPr sz="1230" b="0" i="0">
                <a:solidFill>
                  <a:srgbClr val="6B7280"/>
                </a:solidFill>
                <a:latin typeface="Calibri"/>
              </a:rPr>
              <a:t>3PT rate fell 0.32 → 0.26; long-two rate doubled 0.07 → 0.14 — the one shot the system exists to kill.</a:t>
            </a:r>
          </a:p>
        </p:txBody>
      </p:sp>
      <p:sp>
        <p:nvSpPr>
          <p:cNvPr id="7" name="Oval 6"/>
          <p:cNvSpPr/>
          <p:nvPr/>
        </p:nvSpPr>
        <p:spPr>
          <a:xfrm>
            <a:off x="7726679" y="3026664"/>
            <a:ext cx="146304" cy="146304"/>
          </a:xfrm>
          <a:prstGeom prst="ellipse">
            <a:avLst/>
          </a:prstGeom>
          <a:solidFill>
            <a:srgbClr val="0A2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19288" y="2990088"/>
            <a:ext cx="3931920" cy="109728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Two-thirds self-created</a:t>
            </a:r>
          </a:p>
          <a:p>
            <a:pPr algn="l">
              <a:lnSpc>
                <a:spcPct val="106000"/>
              </a:lnSpc>
              <a:spcAft>
                <a:spcPts val="200"/>
              </a:spcAft>
            </a:pPr>
            <a:r>
              <a:rPr sz="1230" b="0" i="0">
                <a:solidFill>
                  <a:srgbClr val="6B7280"/>
                </a:solidFill>
                <a:latin typeface="Calibri"/>
              </a:rPr>
              <a:t>Iso / 3+ dribble rate rose 0.53 → 0.64, with more late-clock bailouts (0.18 → 0.22).</a:t>
            </a:r>
          </a:p>
        </p:txBody>
      </p:sp>
      <p:sp>
        <p:nvSpPr>
          <p:cNvPr id="9" name="Oval 8"/>
          <p:cNvSpPr/>
          <p:nvPr/>
        </p:nvSpPr>
        <p:spPr>
          <a:xfrm>
            <a:off x="7726679" y="4233672"/>
            <a:ext cx="146304" cy="146304"/>
          </a:xfrm>
          <a:prstGeom prst="ellipse">
            <a:avLst/>
          </a:prstGeom>
          <a:solidFill>
            <a:srgbClr val="0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19288" y="4197096"/>
            <a:ext cx="3931920" cy="109728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No tough-shot premium</a:t>
            </a:r>
          </a:p>
          <a:p>
            <a:pPr algn="l">
              <a:lnSpc>
                <a:spcPct val="106000"/>
              </a:lnSpc>
              <a:spcAft>
                <a:spcPts val="200"/>
              </a:spcAft>
            </a:pPr>
            <a:r>
              <a:rPr sz="1230" b="0" i="0">
                <a:solidFill>
                  <a:srgbClr val="6B7280"/>
                </a:solidFill>
                <a:latin typeface="Calibri"/>
              </a:rPr>
              <a:t>The xFG model (2,661 shots) scores his shot-making at expectation — ≈ 0 both years. The difficulty is self-inflicted.</a:t>
            </a:r>
          </a:p>
        </p:txBody>
      </p:sp>
      <p:sp>
        <p:nvSpPr>
          <p:cNvPr id="11" name="TextBox 10"/>
          <p:cNvSpPr txBox="1"/>
          <p:nvPr/>
        </p:nvSpPr>
        <p:spPr>
          <a:xfrm>
            <a:off x="566928" y="5577840"/>
            <a:ext cx="11064240" cy="685800"/>
          </a:xfrm>
          <a:prstGeom prst="rect">
            <a:avLst/>
          </a:prstGeom>
          <a:noFill/>
        </p:spPr>
        <p:txBody>
          <a:bodyPr wrap="square" anchor="t" lIns="0" rIns="0" tIns="0" bIns="0">
            <a:spAutoFit/>
          </a:bodyPr>
          <a:lstStyle/>
          <a:p>
            <a:pPr algn="l">
              <a:lnSpc>
                <a:spcPct val="110000"/>
              </a:lnSpc>
              <a:spcAft>
                <a:spcPts val="400"/>
              </a:spcAft>
            </a:pPr>
            <a:r>
              <a:rPr sz="1400" b="0" i="0">
                <a:solidFill>
                  <a:srgbClr val="20232A"/>
                </a:solidFill>
                <a:latin typeface="Calibri"/>
              </a:rPr>
              <a:t>Brown's own shot selection drifted far away from what the system is built on, </a:t>
            </a:r>
            <a:r>
              <a:rPr sz="1400" b="1" i="0">
                <a:solidFill>
                  <a:srgbClr val="0A2A1A"/>
                </a:solidFill>
                <a:latin typeface="Calibri"/>
              </a:rPr>
              <a:t>and his "tough" shot making isn't good enough to excuse it.</a:t>
            </a:r>
          </a:p>
        </p:txBody>
      </p:sp>
      <p:sp>
        <p:nvSpPr>
          <p:cNvPr id="12" name="TextBox 11"/>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GAME PLAN</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Boston's identity is math and Brown ruins it</a:t>
            </a:r>
          </a:p>
        </p:txBody>
      </p:sp>
      <p:pic>
        <p:nvPicPr>
          <p:cNvPr id="4" name="Picture 3" descr="three_point_identity.png"/>
          <p:cNvPicPr>
            <a:picLocks noChangeAspect="1"/>
          </p:cNvPicPr>
          <p:nvPr/>
        </p:nvPicPr>
        <p:blipFill>
          <a:blip r:embed="rId2"/>
          <a:stretch>
            <a:fillRect/>
          </a:stretch>
        </p:blipFill>
        <p:spPr>
          <a:xfrm>
            <a:off x="640080" y="1554480"/>
            <a:ext cx="10881360" cy="3942521"/>
          </a:xfrm>
          <a:prstGeom prst="rect">
            <a:avLst/>
          </a:prstGeom>
        </p:spPr>
      </p:pic>
      <p:sp>
        <p:nvSpPr>
          <p:cNvPr id="5" name="TextBox 4"/>
          <p:cNvSpPr txBox="1"/>
          <p:nvPr/>
        </p:nvSpPr>
        <p:spPr>
          <a:xfrm>
            <a:off x="566928" y="5532120"/>
            <a:ext cx="11064240" cy="914400"/>
          </a:xfrm>
          <a:prstGeom prst="rect">
            <a:avLst/>
          </a:prstGeom>
          <a:noFill/>
        </p:spPr>
        <p:txBody>
          <a:bodyPr wrap="square" anchor="t" lIns="0" rIns="0" tIns="0" bIns="0">
            <a:spAutoFit/>
          </a:bodyPr>
          <a:lstStyle/>
          <a:p>
            <a:pPr algn="l">
              <a:lnSpc>
                <a:spcPct val="115000"/>
              </a:lnSpc>
              <a:spcAft>
                <a:spcPts val="400"/>
              </a:spcAft>
            </a:pPr>
            <a:r>
              <a:rPr sz="1300" b="0" i="0">
                <a:solidFill>
                  <a:srgbClr val="20232A"/>
                </a:solidFill>
                <a:latin typeface="Calibri"/>
              </a:rPr>
              <a:t>#1 · #1 · #4 in three-point volume and a top-2 offense all three years. Threes returned 1.10 points per shot vs 0.97 for twos. </a:t>
            </a:r>
            <a:r>
              <a:rPr sz="1300" b="1" i="0">
                <a:solidFill>
                  <a:srgbClr val="B3403A"/>
                </a:solidFill>
                <a:latin typeface="Calibri"/>
              </a:rPr>
              <a:t>Brown: last of 7 perimeter players in 3PT rate (.263 vs team .467), first in long twos. </a:t>
            </a:r>
            <a:r>
              <a:rPr sz="1300" b="0" i="0">
                <a:solidFill>
                  <a:srgbClr val="6B7280"/>
                </a:solidFill>
                <a:latin typeface="Calibri"/>
              </a:rPr>
              <a:t>A shot-mix problem, not a finishing one (his 1.046 PPS vs 1.101).</a:t>
            </a:r>
          </a:p>
        </p:txBody>
      </p:sp>
      <p:sp>
        <p:nvSpPr>
          <p:cNvPr id="6" name="TextBox 5"/>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WHERE THE SHOTS GO</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Redistribute Brown's 21.7 shots to the wings</a:t>
            </a:r>
          </a:p>
        </p:txBody>
      </p:sp>
      <p:pic>
        <p:nvPicPr>
          <p:cNvPr id="4" name="Picture 3" descr="wing_redistribution.png"/>
          <p:cNvPicPr>
            <a:picLocks noChangeAspect="1"/>
          </p:cNvPicPr>
          <p:nvPr/>
        </p:nvPicPr>
        <p:blipFill>
          <a:blip r:embed="rId2"/>
          <a:stretch>
            <a:fillRect/>
          </a:stretch>
        </p:blipFill>
        <p:spPr>
          <a:xfrm>
            <a:off x="1205179" y="1554480"/>
            <a:ext cx="9751161" cy="3931920"/>
          </a:xfrm>
          <a:prstGeom prst="rect">
            <a:avLst/>
          </a:prstGeom>
        </p:spPr>
      </p:pic>
      <p:sp>
        <p:nvSpPr>
          <p:cNvPr id="5" name="TextBox 4"/>
          <p:cNvSpPr txBox="1"/>
          <p:nvPr/>
        </p:nvSpPr>
        <p:spPr>
          <a:xfrm>
            <a:off x="566928" y="5486400"/>
            <a:ext cx="11064240" cy="960120"/>
          </a:xfrm>
          <a:prstGeom prst="rect">
            <a:avLst/>
          </a:prstGeom>
          <a:noFill/>
        </p:spPr>
        <p:txBody>
          <a:bodyPr wrap="square" anchor="t" lIns="0" rIns="0" tIns="0" bIns="0">
            <a:spAutoFit/>
          </a:bodyPr>
          <a:lstStyle/>
          <a:p>
            <a:pPr algn="l">
              <a:lnSpc>
                <a:spcPct val="115000"/>
              </a:lnSpc>
              <a:spcAft>
                <a:spcPts val="400"/>
              </a:spcAft>
            </a:pPr>
            <a:r>
              <a:rPr sz="1300" b="1" i="0">
                <a:solidFill>
                  <a:srgbClr val="007A33"/>
                </a:solidFill>
                <a:latin typeface="Calibri"/>
              </a:rPr>
              <a:t>Ceiling: +1.3 pts/g (~3.5 wins) if every wing's efficiency survived the extra volume — it won't. </a:t>
            </a:r>
            <a:r>
              <a:rPr sz="1300" b="0" i="0">
                <a:solidFill>
                  <a:srgbClr val="20232A"/>
                </a:solidFill>
                <a:latin typeface="Calibri"/>
              </a:rPr>
              <a:t>Usage-adjusted: roughly a wash (−0.7 to +0.9 wins). And the George-only 1-for-1 is negative for the Celtics. </a:t>
            </a:r>
            <a:r>
              <a:rPr sz="1300" b="1" i="0">
                <a:solidFill>
                  <a:srgbClr val="0A2A1A"/>
                </a:solidFill>
                <a:latin typeface="Calibri"/>
              </a:rPr>
              <a:t>The real upside is Tatum's creation (5.7-6.1 ast, .498 3PT-rate gravity) upgrading the shots these wings get, and that effect is already measured in the +11.9 Tatum-led lineups. Combined honest range: ~+4 to +8 wins (without Brown this year).</a:t>
            </a:r>
          </a:p>
        </p:txBody>
      </p:sp>
      <p:sp>
        <p:nvSpPr>
          <p:cNvPr id="6" name="TextBox 5"/>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CONTINGENT VALUE</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The production needed Tatum and White to prop it up</a:t>
            </a:r>
          </a:p>
        </p:txBody>
      </p:sp>
      <p:pic>
        <p:nvPicPr>
          <p:cNvPr id="4" name="Picture 3" descr="with_without_net_2025-26.png"/>
          <p:cNvPicPr>
            <a:picLocks noChangeAspect="1"/>
          </p:cNvPicPr>
          <p:nvPr/>
        </p:nvPicPr>
        <p:blipFill>
          <a:blip r:embed="rId2"/>
          <a:stretch>
            <a:fillRect/>
          </a:stretch>
        </p:blipFill>
        <p:spPr>
          <a:xfrm>
            <a:off x="457200" y="1554480"/>
            <a:ext cx="6035040" cy="3871096"/>
          </a:xfrm>
          <a:prstGeom prst="rect">
            <a:avLst/>
          </a:prstGeom>
        </p:spPr>
      </p:pic>
      <p:sp>
        <p:nvSpPr>
          <p:cNvPr id="5" name="Oval 4"/>
          <p:cNvSpPr/>
          <p:nvPr/>
        </p:nvSpPr>
        <p:spPr>
          <a:xfrm>
            <a:off x="6858000" y="1819656"/>
            <a:ext cx="146304" cy="146304"/>
          </a:xfrm>
          <a:prstGeom prst="ellipse">
            <a:avLst/>
          </a:prstGeom>
          <a:solidFill>
            <a:srgbClr val="0A2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50608" y="1783080"/>
            <a:ext cx="4754880" cy="1188720"/>
          </a:xfrm>
          <a:prstGeom prst="rect">
            <a:avLst/>
          </a:prstGeom>
          <a:noFill/>
        </p:spPr>
        <p:txBody>
          <a:bodyPr wrap="square" anchor="t" lIns="0" rIns="0" tIns="0" bIns="0">
            <a:spAutoFit/>
          </a:bodyPr>
          <a:lstStyle/>
          <a:p>
            <a:pPr algn="l">
              <a:lnSpc>
                <a:spcPct val="108000"/>
              </a:lnSpc>
              <a:spcAft>
                <a:spcPts val="200"/>
              </a:spcAft>
            </a:pPr>
            <a:r>
              <a:rPr sz="1450" b="1" i="0">
                <a:solidFill>
                  <a:srgbClr val="0A2A1A"/>
                </a:solidFill>
                <a:latin typeface="Calibri"/>
              </a:rPr>
              <a:t>With Tatum: +16.2 · without: +4.8</a:t>
            </a:r>
          </a:p>
          <a:p>
            <a:pPr algn="l">
              <a:lnSpc>
                <a:spcPct val="108000"/>
              </a:lnSpc>
              <a:spcAft>
                <a:spcPts val="200"/>
              </a:spcAft>
            </a:pPr>
            <a:r>
              <a:rPr sz="1280" b="0" i="0">
                <a:solidFill>
                  <a:srgbClr val="6B7280"/>
                </a:solidFill>
                <a:latin typeface="Calibri"/>
              </a:rPr>
              <a:t>An 11.3-point swing in 2025-26. Brown's lineups won when the infrastructure was on the floor.</a:t>
            </a:r>
          </a:p>
        </p:txBody>
      </p:sp>
      <p:sp>
        <p:nvSpPr>
          <p:cNvPr id="7" name="Oval 6"/>
          <p:cNvSpPr/>
          <p:nvPr/>
        </p:nvSpPr>
        <p:spPr>
          <a:xfrm>
            <a:off x="6858000" y="3191256"/>
            <a:ext cx="146304" cy="146304"/>
          </a:xfrm>
          <a:prstGeom prst="ellipse">
            <a:avLst/>
          </a:prstGeom>
          <a:solidFill>
            <a:srgbClr val="0A2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50608" y="3154680"/>
            <a:ext cx="4754880" cy="1188720"/>
          </a:xfrm>
          <a:prstGeom prst="rect">
            <a:avLst/>
          </a:prstGeom>
          <a:noFill/>
        </p:spPr>
        <p:txBody>
          <a:bodyPr wrap="square" anchor="t" lIns="0" rIns="0" tIns="0" bIns="0">
            <a:spAutoFit/>
          </a:bodyPr>
          <a:lstStyle/>
          <a:p>
            <a:pPr algn="l">
              <a:lnSpc>
                <a:spcPct val="108000"/>
              </a:lnSpc>
              <a:spcAft>
                <a:spcPts val="200"/>
              </a:spcAft>
            </a:pPr>
            <a:r>
              <a:rPr sz="1450" b="1" i="0">
                <a:solidFill>
                  <a:srgbClr val="0A2A1A"/>
                </a:solidFill>
                <a:latin typeface="Calibri"/>
              </a:rPr>
              <a:t>With White: +9.4 · without: −1.0</a:t>
            </a:r>
          </a:p>
          <a:p>
            <a:pPr algn="l">
              <a:lnSpc>
                <a:spcPct val="108000"/>
              </a:lnSpc>
              <a:spcAft>
                <a:spcPts val="200"/>
              </a:spcAft>
            </a:pPr>
            <a:r>
              <a:rPr sz="1280" b="0" i="0">
                <a:solidFill>
                  <a:srgbClr val="6B7280"/>
                </a:solidFill>
                <a:latin typeface="Calibri"/>
              </a:rPr>
              <a:t>Same story with the other connector — Brown-led lineups without White were underwater.</a:t>
            </a:r>
          </a:p>
        </p:txBody>
      </p:sp>
      <p:sp>
        <p:nvSpPr>
          <p:cNvPr id="9" name="Oval 8"/>
          <p:cNvSpPr/>
          <p:nvPr/>
        </p:nvSpPr>
        <p:spPr>
          <a:xfrm>
            <a:off x="6858000" y="4562856"/>
            <a:ext cx="146304" cy="146304"/>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0608" y="4526280"/>
            <a:ext cx="4754880" cy="1188720"/>
          </a:xfrm>
          <a:prstGeom prst="rect">
            <a:avLst/>
          </a:prstGeom>
          <a:noFill/>
        </p:spPr>
        <p:txBody>
          <a:bodyPr wrap="square" anchor="t" lIns="0" rIns="0" tIns="0" bIns="0">
            <a:spAutoFit/>
          </a:bodyPr>
          <a:lstStyle/>
          <a:p>
            <a:pPr algn="l">
              <a:lnSpc>
                <a:spcPct val="108000"/>
              </a:lnSpc>
              <a:spcAft>
                <a:spcPts val="200"/>
              </a:spcAft>
            </a:pPr>
            <a:r>
              <a:rPr sz="1450" b="1" i="0">
                <a:solidFill>
                  <a:srgbClr val="0A2A1A"/>
                </a:solidFill>
                <a:latin typeface="Calibri"/>
              </a:rPr>
              <a:t>The honest caveat</a:t>
            </a:r>
          </a:p>
          <a:p>
            <a:pPr algn="l">
              <a:lnSpc>
                <a:spcPct val="108000"/>
              </a:lnSpc>
              <a:spcAft>
                <a:spcPts val="200"/>
              </a:spcAft>
            </a:pPr>
            <a:r>
              <a:rPr sz="1280" b="0" i="0">
                <a:solidFill>
                  <a:srgbClr val="6B7280"/>
                </a:solidFill>
                <a:latin typeface="Calibri"/>
              </a:rPr>
              <a:t>Tatum's injury contaminates the 2025-26 split; the confound is documented, not hidden. It softens — but doesn't reverse — the pattern.</a:t>
            </a:r>
          </a:p>
        </p:txBody>
      </p:sp>
      <p:sp>
        <p:nvSpPr>
          <p:cNvPr id="11" name="TextBox 10"/>
          <p:cNvSpPr txBox="1"/>
          <p:nvPr/>
        </p:nvSpPr>
        <p:spPr>
          <a:xfrm>
            <a:off x="6858000" y="5943600"/>
            <a:ext cx="4754880" cy="548640"/>
          </a:xfrm>
          <a:prstGeom prst="rect">
            <a:avLst/>
          </a:prstGeom>
          <a:noFill/>
        </p:spPr>
        <p:txBody>
          <a:bodyPr wrap="square" anchor="t" lIns="0" rIns="0" tIns="0" bIns="0">
            <a:spAutoFit/>
          </a:bodyPr>
          <a:lstStyle/>
          <a:p>
            <a:pPr algn="l">
              <a:lnSpc>
                <a:spcPct val="105000"/>
              </a:lnSpc>
              <a:spcAft>
                <a:spcPts val="400"/>
              </a:spcAft>
            </a:pPr>
            <a:r>
              <a:rPr sz="1300" b="1" i="1">
                <a:solidFill>
                  <a:srgbClr val="007A33"/>
                </a:solidFill>
                <a:latin typeface="Calibri"/>
              </a:rPr>
              <a:t>A $53M player whose value is contingent on his co-stars is a fit problem, not a star.</a:t>
            </a:r>
          </a:p>
        </p:txBody>
      </p:sp>
      <p:sp>
        <p:nvSpPr>
          <p:cNvPr id="12" name="TextBox 11"/>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HIERARCHY TEST</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First-option Tatum will be a problem (in a good way)</a:t>
            </a:r>
          </a:p>
        </p:txBody>
      </p:sp>
      <p:pic>
        <p:nvPicPr>
          <p:cNvPr id="4" name="Picture 3" descr="tatum_first_option.png"/>
          <p:cNvPicPr>
            <a:picLocks noChangeAspect="1"/>
          </p:cNvPicPr>
          <p:nvPr/>
        </p:nvPicPr>
        <p:blipFill>
          <a:blip r:embed="rId2"/>
          <a:stretch>
            <a:fillRect/>
          </a:stretch>
        </p:blipFill>
        <p:spPr>
          <a:xfrm>
            <a:off x="457200" y="1554480"/>
            <a:ext cx="6766560" cy="2783447"/>
          </a:xfrm>
          <a:prstGeom prst="rect">
            <a:avLst/>
          </a:prstGeom>
        </p:spPr>
      </p:pic>
      <p:sp>
        <p:nvSpPr>
          <p:cNvPr id="5" name="Oval 4"/>
          <p:cNvSpPr/>
          <p:nvPr/>
        </p:nvSpPr>
        <p:spPr>
          <a:xfrm>
            <a:off x="7589520" y="1773936"/>
            <a:ext cx="146304" cy="146304"/>
          </a:xfrm>
          <a:prstGeom prst="ellipse">
            <a:avLst/>
          </a:prstGeom>
          <a:solidFill>
            <a:srgbClr val="007A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82128" y="1737360"/>
            <a:ext cx="4069080" cy="114300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25-4 (86.2%) when Brown sat</a:t>
            </a:r>
          </a:p>
          <a:p>
            <a:pPr algn="l">
              <a:lnSpc>
                <a:spcPct val="106000"/>
              </a:lnSpc>
              <a:spcAft>
                <a:spcPts val="200"/>
              </a:spcAft>
            </a:pPr>
            <a:r>
              <a:rPr sz="1220" b="0" i="0">
                <a:solidFill>
                  <a:srgbClr val="6B7280"/>
                </a:solidFill>
                <a:latin typeface="Calibri"/>
              </a:rPr>
              <a:t>29 games, 2023-present, +13.3/game — including 10-0 in the title year. Both healthy: 73.7%. Lineups: Tatum-led +11.9 &gt; together +7.6 &gt; neither +3.5 (control).</a:t>
            </a:r>
          </a:p>
        </p:txBody>
      </p:sp>
      <p:sp>
        <p:nvSpPr>
          <p:cNvPr id="7" name="Oval 6"/>
          <p:cNvSpPr/>
          <p:nvPr/>
        </p:nvSpPr>
        <p:spPr>
          <a:xfrm>
            <a:off x="7589520" y="3090672"/>
            <a:ext cx="146304" cy="146304"/>
          </a:xfrm>
          <a:prstGeom prst="ellipse">
            <a:avLst/>
          </a:prstGeom>
          <a:solidFill>
            <a:srgbClr val="0A2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82128" y="3054096"/>
            <a:ext cx="4069080" cy="114300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Usage up, efficiency mostly holds</a:t>
            </a:r>
          </a:p>
          <a:p>
            <a:pPr algn="l">
              <a:lnSpc>
                <a:spcPct val="106000"/>
              </a:lnSpc>
              <a:spcAft>
                <a:spcPts val="200"/>
              </a:spcAft>
            </a:pPr>
            <a:r>
              <a:rPr sz="1220" b="0" i="0">
                <a:solidFill>
                  <a:srgbClr val="6B7280"/>
                </a:solidFill>
                <a:latin typeface="Calibri"/>
              </a:rPr>
              <a:t>Pooled: 28.0/7.9/5.7 at 34.6% usage (+4.7 pts of usage), TS .593 → .572 — a modest efficiency dip, printed, not hidden.</a:t>
            </a:r>
          </a:p>
        </p:txBody>
      </p:sp>
      <p:sp>
        <p:nvSpPr>
          <p:cNvPr id="9" name="Oval 8"/>
          <p:cNvSpPr/>
          <p:nvPr/>
        </p:nvSpPr>
        <p:spPr>
          <a:xfrm>
            <a:off x="7589520" y="4407407"/>
            <a:ext cx="146304" cy="146304"/>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82128" y="4370831"/>
            <a:ext cx="4069080" cy="1143000"/>
          </a:xfrm>
          <a:prstGeom prst="rect">
            <a:avLst/>
          </a:prstGeom>
          <a:noFill/>
        </p:spPr>
        <p:txBody>
          <a:bodyPr wrap="square" anchor="t" lIns="0" rIns="0" tIns="0" bIns="0">
            <a:spAutoFit/>
          </a:bodyPr>
          <a:lstStyle/>
          <a:p>
            <a:pPr algn="l">
              <a:lnSpc>
                <a:spcPct val="106000"/>
              </a:lnSpc>
              <a:spcAft>
                <a:spcPts val="200"/>
              </a:spcAft>
            </a:pPr>
            <a:r>
              <a:rPr sz="1400" b="1" i="0">
                <a:solidFill>
                  <a:srgbClr val="0A2A1A"/>
                </a:solidFill>
                <a:latin typeface="Calibri"/>
              </a:rPr>
              <a:t>Worth ~5-7 wins a season</a:t>
            </a:r>
          </a:p>
          <a:p>
            <a:pPr algn="l">
              <a:lnSpc>
                <a:spcPct val="106000"/>
              </a:lnSpc>
              <a:spcAft>
                <a:spcPts val="200"/>
              </a:spcAft>
            </a:pPr>
            <a:r>
              <a:rPr sz="1220" b="0" i="0">
                <a:solidFill>
                  <a:srgbClr val="6B7280"/>
                </a:solidFill>
                <a:latin typeface="Calibri"/>
              </a:rPr>
              <a:t>Projection, not observation: the +4.3 lineup gap, shrunk 40-60% for bench/garbage contamination → +1.7-2.6 team net → +4.7-7.0 wins.</a:t>
            </a:r>
          </a:p>
        </p:txBody>
      </p:sp>
      <p:sp>
        <p:nvSpPr>
          <p:cNvPr id="11" name="TextBox 10"/>
          <p:cNvSpPr txBox="1"/>
          <p:nvPr/>
        </p:nvSpPr>
        <p:spPr>
          <a:xfrm>
            <a:off x="566928" y="4617720"/>
            <a:ext cx="6766560" cy="1188720"/>
          </a:xfrm>
          <a:prstGeom prst="rect">
            <a:avLst/>
          </a:prstGeom>
          <a:noFill/>
        </p:spPr>
        <p:txBody>
          <a:bodyPr wrap="square" anchor="t" lIns="0" rIns="0" tIns="0" bIns="0">
            <a:spAutoFit/>
          </a:bodyPr>
          <a:lstStyle/>
          <a:p>
            <a:pPr algn="l">
              <a:lnSpc>
                <a:spcPct val="112000"/>
              </a:lnSpc>
              <a:spcAft>
                <a:spcPts val="400"/>
              </a:spcAft>
            </a:pPr>
            <a:r>
              <a:rPr sz="1300" b="0" i="0">
                <a:solidFill>
                  <a:srgbClr val="20232A"/>
                </a:solidFill>
                <a:latin typeface="Calibri"/>
              </a:rPr>
              <a:t>Tatum's projected solo season: </a:t>
            </a:r>
            <a:r>
              <a:rPr sz="1300" b="1" i="0">
                <a:solidFill>
                  <a:srgbClr val="007A33"/>
                </a:solidFill>
                <a:latin typeface="Calibri"/>
              </a:rPr>
              <a:t>27.2-28.8 pts · 7.8-8.9 reb · 5.1-6.2 ast · .566-.584 TS</a:t>
            </a:r>
          </a:p>
        </p:txBody>
      </p:sp>
      <p:sp>
        <p:nvSpPr>
          <p:cNvPr id="12" name="TextBox 11"/>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CONTRACT</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Max-contract price, below-median-efficiency production</a:t>
            </a:r>
          </a:p>
        </p:txBody>
      </p:sp>
      <p:pic>
        <p:nvPicPr>
          <p:cNvPr id="4" name="Picture 3" descr="efficiency_comps.png"/>
          <p:cNvPicPr>
            <a:picLocks noChangeAspect="1"/>
          </p:cNvPicPr>
          <p:nvPr/>
        </p:nvPicPr>
        <p:blipFill>
          <a:blip r:embed="rId2"/>
          <a:stretch>
            <a:fillRect/>
          </a:stretch>
        </p:blipFill>
        <p:spPr>
          <a:xfrm>
            <a:off x="1097280" y="1508760"/>
            <a:ext cx="9966960" cy="4111782"/>
          </a:xfrm>
          <a:prstGeom prst="rect">
            <a:avLst/>
          </a:prstGeom>
        </p:spPr>
      </p:pic>
      <p:sp>
        <p:nvSpPr>
          <p:cNvPr id="5" name="TextBox 4"/>
          <p:cNvSpPr txBox="1"/>
          <p:nvPr/>
        </p:nvSpPr>
        <p:spPr>
          <a:xfrm>
            <a:off x="566928" y="5806440"/>
            <a:ext cx="11064240" cy="640080"/>
          </a:xfrm>
          <a:prstGeom prst="rect">
            <a:avLst/>
          </a:prstGeom>
          <a:noFill/>
        </p:spPr>
        <p:txBody>
          <a:bodyPr wrap="square" anchor="t" lIns="0" rIns="0" tIns="0" bIns="0">
            <a:spAutoFit/>
          </a:bodyPr>
          <a:lstStyle/>
          <a:p>
            <a:pPr algn="l">
              <a:lnSpc>
                <a:spcPct val="110000"/>
              </a:lnSpc>
              <a:spcAft>
                <a:spcPts val="400"/>
              </a:spcAft>
            </a:pPr>
            <a:r>
              <a:rPr sz="1400" b="0" i="0">
                <a:solidFill>
                  <a:srgbClr val="20232A"/>
                </a:solidFill>
                <a:latin typeface="Calibri"/>
              </a:rPr>
              <a:t>6.9 WS on $53.1M = $7.7M per win share at 34% of the cap, with a 0.573 TS%, below the max-wing median. </a:t>
            </a:r>
            <a:r>
              <a:rPr sz="1400" b="1" i="0">
                <a:solidFill>
                  <a:srgbClr val="007A33"/>
                </a:solidFill>
                <a:latin typeface="Calibri"/>
              </a:rPr>
              <a:t>Picks 15-30 buy the same wins at ~$2.1M/WS on rookie deals.</a:t>
            </a:r>
          </a:p>
        </p:txBody>
      </p:sp>
      <p:sp>
        <p:nvSpPr>
          <p:cNvPr id="6" name="TextBox 5"/>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THE RETURN</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2800" b="1" i="0">
                <a:solidFill>
                  <a:srgbClr val="0A2A1A"/>
                </a:solidFill>
                <a:latin typeface="Cambria"/>
              </a:rPr>
              <a:t>George is the cleaner fit for the Celtics system, and new lottery odds</a:t>
            </a:r>
          </a:p>
        </p:txBody>
      </p:sp>
      <p:sp>
        <p:nvSpPr>
          <p:cNvPr id="4" name="Rounded Rectangle 3"/>
          <p:cNvSpPr/>
          <p:nvPr/>
        </p:nvSpPr>
        <p:spPr>
          <a:xfrm>
            <a:off x="566928" y="1783080"/>
            <a:ext cx="6583680" cy="3977639"/>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993392"/>
            <a:ext cx="6035040" cy="365760"/>
          </a:xfrm>
          <a:prstGeom prst="rect">
            <a:avLst/>
          </a:prstGeom>
          <a:noFill/>
        </p:spPr>
        <p:txBody>
          <a:bodyPr wrap="square" anchor="t" lIns="0" rIns="0" tIns="0" bIns="0">
            <a:spAutoFit/>
          </a:bodyPr>
          <a:lstStyle/>
          <a:p>
            <a:pPr algn="l">
              <a:lnSpc>
                <a:spcPct val="100000"/>
              </a:lnSpc>
              <a:spcAft>
                <a:spcPts val="0"/>
              </a:spcAft>
            </a:pPr>
            <a:r>
              <a:rPr sz="1500" b="1" i="0">
                <a:solidFill>
                  <a:srgbClr val="0A2A1A"/>
                </a:solidFill>
                <a:latin typeface="Cambria"/>
              </a:rPr>
              <a:t>2025-26 shot profile</a:t>
            </a:r>
          </a:p>
        </p:txBody>
      </p:sp>
      <p:sp>
        <p:nvSpPr>
          <p:cNvPr id="6" name="TextBox 5"/>
          <p:cNvSpPr txBox="1"/>
          <p:nvPr/>
        </p:nvSpPr>
        <p:spPr>
          <a:xfrm>
            <a:off x="3566160" y="2395728"/>
            <a:ext cx="1737360" cy="274320"/>
          </a:xfrm>
          <a:prstGeom prst="rect">
            <a:avLst/>
          </a:prstGeom>
          <a:noFill/>
        </p:spPr>
        <p:txBody>
          <a:bodyPr wrap="square" anchor="t" lIns="0" rIns="0" tIns="0" bIns="0">
            <a:spAutoFit/>
          </a:bodyPr>
          <a:lstStyle/>
          <a:p>
            <a:pPr algn="l">
              <a:lnSpc>
                <a:spcPct val="100000"/>
              </a:lnSpc>
              <a:spcAft>
                <a:spcPts val="0"/>
              </a:spcAft>
            </a:pPr>
            <a:r>
              <a:rPr sz="1150" b="1" i="0">
                <a:solidFill>
                  <a:srgbClr val="6B7280"/>
                </a:solidFill>
                <a:latin typeface="Calibri"/>
              </a:rPr>
              <a:t>BROWN</a:t>
            </a:r>
          </a:p>
        </p:txBody>
      </p:sp>
      <p:sp>
        <p:nvSpPr>
          <p:cNvPr id="7" name="TextBox 6"/>
          <p:cNvSpPr txBox="1"/>
          <p:nvPr/>
        </p:nvSpPr>
        <p:spPr>
          <a:xfrm>
            <a:off x="5394960" y="2395728"/>
            <a:ext cx="1737360" cy="274320"/>
          </a:xfrm>
          <a:prstGeom prst="rect">
            <a:avLst/>
          </a:prstGeom>
          <a:noFill/>
        </p:spPr>
        <p:txBody>
          <a:bodyPr wrap="square" anchor="t" lIns="0" rIns="0" tIns="0" bIns="0">
            <a:spAutoFit/>
          </a:bodyPr>
          <a:lstStyle/>
          <a:p>
            <a:pPr algn="l">
              <a:lnSpc>
                <a:spcPct val="100000"/>
              </a:lnSpc>
              <a:spcAft>
                <a:spcPts val="0"/>
              </a:spcAft>
            </a:pPr>
            <a:r>
              <a:rPr sz="1150" b="1" i="0">
                <a:solidFill>
                  <a:srgbClr val="007A33"/>
                </a:solidFill>
                <a:latin typeface="Calibri"/>
              </a:rPr>
              <a:t>GEORGE</a:t>
            </a:r>
          </a:p>
        </p:txBody>
      </p:sp>
      <p:sp>
        <p:nvSpPr>
          <p:cNvPr id="8" name="TextBox 7"/>
          <p:cNvSpPr txBox="1"/>
          <p:nvPr/>
        </p:nvSpPr>
        <p:spPr>
          <a:xfrm>
            <a:off x="859536" y="2743200"/>
            <a:ext cx="2651760" cy="320040"/>
          </a:xfrm>
          <a:prstGeom prst="rect">
            <a:avLst/>
          </a:prstGeom>
          <a:noFill/>
        </p:spPr>
        <p:txBody>
          <a:bodyPr wrap="square" anchor="t" lIns="0" rIns="0" tIns="0" bIns="0">
            <a:spAutoFit/>
          </a:bodyPr>
          <a:lstStyle/>
          <a:p>
            <a:pPr algn="l">
              <a:lnSpc>
                <a:spcPct val="100000"/>
              </a:lnSpc>
              <a:spcAft>
                <a:spcPts val="0"/>
              </a:spcAft>
            </a:pPr>
            <a:r>
              <a:rPr sz="1300" b="0" i="0">
                <a:solidFill>
                  <a:srgbClr val="20232A"/>
                </a:solidFill>
                <a:latin typeface="Calibri"/>
              </a:rPr>
              <a:t>3PT rate</a:t>
            </a:r>
          </a:p>
        </p:txBody>
      </p:sp>
      <p:sp>
        <p:nvSpPr>
          <p:cNvPr id="9" name="TextBox 8"/>
          <p:cNvSpPr txBox="1"/>
          <p:nvPr/>
        </p:nvSpPr>
        <p:spPr>
          <a:xfrm>
            <a:off x="3566160" y="274320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6B7280"/>
                </a:solidFill>
                <a:latin typeface="Calibri"/>
              </a:rPr>
              <a:t>0.262</a:t>
            </a:r>
          </a:p>
        </p:txBody>
      </p:sp>
      <p:sp>
        <p:nvSpPr>
          <p:cNvPr id="10" name="TextBox 9"/>
          <p:cNvSpPr txBox="1"/>
          <p:nvPr/>
        </p:nvSpPr>
        <p:spPr>
          <a:xfrm>
            <a:off x="5394960" y="274320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007A33"/>
                </a:solidFill>
                <a:latin typeface="Calibri"/>
              </a:rPr>
              <a:t>0.497</a:t>
            </a:r>
          </a:p>
        </p:txBody>
      </p:sp>
      <p:sp>
        <p:nvSpPr>
          <p:cNvPr id="11" name="TextBox 10"/>
          <p:cNvSpPr txBox="1"/>
          <p:nvPr/>
        </p:nvSpPr>
        <p:spPr>
          <a:xfrm>
            <a:off x="859536" y="3291840"/>
            <a:ext cx="2651760" cy="320040"/>
          </a:xfrm>
          <a:prstGeom prst="rect">
            <a:avLst/>
          </a:prstGeom>
          <a:noFill/>
        </p:spPr>
        <p:txBody>
          <a:bodyPr wrap="square" anchor="t" lIns="0" rIns="0" tIns="0" bIns="0">
            <a:spAutoFit/>
          </a:bodyPr>
          <a:lstStyle/>
          <a:p>
            <a:pPr algn="l">
              <a:lnSpc>
                <a:spcPct val="100000"/>
              </a:lnSpc>
              <a:spcAft>
                <a:spcPts val="0"/>
              </a:spcAft>
            </a:pPr>
            <a:r>
              <a:rPr sz="1300" b="0" i="0">
                <a:solidFill>
                  <a:srgbClr val="20232A"/>
                </a:solidFill>
                <a:latin typeface="Calibri"/>
              </a:rPr>
              <a:t>Catch-&amp;-shoot rate</a:t>
            </a:r>
          </a:p>
        </p:txBody>
      </p:sp>
      <p:sp>
        <p:nvSpPr>
          <p:cNvPr id="12" name="TextBox 11"/>
          <p:cNvSpPr txBox="1"/>
          <p:nvPr/>
        </p:nvSpPr>
        <p:spPr>
          <a:xfrm>
            <a:off x="3566160" y="329184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6B7280"/>
                </a:solidFill>
                <a:latin typeface="Calibri"/>
              </a:rPr>
              <a:t>0.163</a:t>
            </a:r>
          </a:p>
        </p:txBody>
      </p:sp>
      <p:sp>
        <p:nvSpPr>
          <p:cNvPr id="13" name="TextBox 12"/>
          <p:cNvSpPr txBox="1"/>
          <p:nvPr/>
        </p:nvSpPr>
        <p:spPr>
          <a:xfrm>
            <a:off x="5394960" y="329184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007A33"/>
                </a:solidFill>
                <a:latin typeface="Calibri"/>
              </a:rPr>
              <a:t>0.409</a:t>
            </a:r>
          </a:p>
        </p:txBody>
      </p:sp>
      <p:sp>
        <p:nvSpPr>
          <p:cNvPr id="14" name="TextBox 13"/>
          <p:cNvSpPr txBox="1"/>
          <p:nvPr/>
        </p:nvSpPr>
        <p:spPr>
          <a:xfrm>
            <a:off x="859536" y="3840480"/>
            <a:ext cx="2651760" cy="320040"/>
          </a:xfrm>
          <a:prstGeom prst="rect">
            <a:avLst/>
          </a:prstGeom>
          <a:noFill/>
        </p:spPr>
        <p:txBody>
          <a:bodyPr wrap="square" anchor="t" lIns="0" rIns="0" tIns="0" bIns="0">
            <a:spAutoFit/>
          </a:bodyPr>
          <a:lstStyle/>
          <a:p>
            <a:pPr algn="l">
              <a:lnSpc>
                <a:spcPct val="100000"/>
              </a:lnSpc>
              <a:spcAft>
                <a:spcPts val="0"/>
              </a:spcAft>
            </a:pPr>
            <a:r>
              <a:rPr sz="1300" b="0" i="0">
                <a:solidFill>
                  <a:srgbClr val="20232A"/>
                </a:solidFill>
                <a:latin typeface="Calibri"/>
              </a:rPr>
              <a:t>Iso / 3+ dribble rate</a:t>
            </a:r>
          </a:p>
        </p:txBody>
      </p:sp>
      <p:sp>
        <p:nvSpPr>
          <p:cNvPr id="15" name="TextBox 14"/>
          <p:cNvSpPr txBox="1"/>
          <p:nvPr/>
        </p:nvSpPr>
        <p:spPr>
          <a:xfrm>
            <a:off x="3566160" y="384048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6B7280"/>
                </a:solidFill>
                <a:latin typeface="Calibri"/>
              </a:rPr>
              <a:t>0.639</a:t>
            </a:r>
          </a:p>
        </p:txBody>
      </p:sp>
      <p:sp>
        <p:nvSpPr>
          <p:cNvPr id="16" name="TextBox 15"/>
          <p:cNvSpPr txBox="1"/>
          <p:nvPr/>
        </p:nvSpPr>
        <p:spPr>
          <a:xfrm>
            <a:off x="5394960" y="384048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007A33"/>
                </a:solidFill>
                <a:latin typeface="Calibri"/>
              </a:rPr>
              <a:t>0.404</a:t>
            </a:r>
          </a:p>
        </p:txBody>
      </p:sp>
      <p:sp>
        <p:nvSpPr>
          <p:cNvPr id="17" name="TextBox 16"/>
          <p:cNvSpPr txBox="1"/>
          <p:nvPr/>
        </p:nvSpPr>
        <p:spPr>
          <a:xfrm>
            <a:off x="859536" y="4389120"/>
            <a:ext cx="2651760" cy="320040"/>
          </a:xfrm>
          <a:prstGeom prst="rect">
            <a:avLst/>
          </a:prstGeom>
          <a:noFill/>
        </p:spPr>
        <p:txBody>
          <a:bodyPr wrap="square" anchor="t" lIns="0" rIns="0" tIns="0" bIns="0">
            <a:spAutoFit/>
          </a:bodyPr>
          <a:lstStyle/>
          <a:p>
            <a:pPr algn="l">
              <a:lnSpc>
                <a:spcPct val="100000"/>
              </a:lnSpc>
              <a:spcAft>
                <a:spcPts val="0"/>
              </a:spcAft>
            </a:pPr>
            <a:r>
              <a:rPr sz="1300" b="0" i="0">
                <a:solidFill>
                  <a:srgbClr val="20232A"/>
                </a:solidFill>
                <a:latin typeface="Calibri"/>
              </a:rPr>
              <a:t>Contested-shot rate</a:t>
            </a:r>
          </a:p>
        </p:txBody>
      </p:sp>
      <p:sp>
        <p:nvSpPr>
          <p:cNvPr id="18" name="TextBox 17"/>
          <p:cNvSpPr txBox="1"/>
          <p:nvPr/>
        </p:nvSpPr>
        <p:spPr>
          <a:xfrm>
            <a:off x="3566160" y="438912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6B7280"/>
                </a:solidFill>
                <a:latin typeface="Calibri"/>
              </a:rPr>
              <a:t>0.517</a:t>
            </a:r>
          </a:p>
        </p:txBody>
      </p:sp>
      <p:sp>
        <p:nvSpPr>
          <p:cNvPr id="19" name="TextBox 18"/>
          <p:cNvSpPr txBox="1"/>
          <p:nvPr/>
        </p:nvSpPr>
        <p:spPr>
          <a:xfrm>
            <a:off x="5394960" y="4389120"/>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007A33"/>
                </a:solidFill>
                <a:latin typeface="Calibri"/>
              </a:rPr>
              <a:t>0.370</a:t>
            </a:r>
          </a:p>
        </p:txBody>
      </p:sp>
      <p:sp>
        <p:nvSpPr>
          <p:cNvPr id="20" name="TextBox 19"/>
          <p:cNvSpPr txBox="1"/>
          <p:nvPr/>
        </p:nvSpPr>
        <p:spPr>
          <a:xfrm>
            <a:off x="859536" y="4937759"/>
            <a:ext cx="2651760" cy="320040"/>
          </a:xfrm>
          <a:prstGeom prst="rect">
            <a:avLst/>
          </a:prstGeom>
          <a:noFill/>
        </p:spPr>
        <p:txBody>
          <a:bodyPr wrap="square" anchor="t" lIns="0" rIns="0" tIns="0" bIns="0">
            <a:spAutoFit/>
          </a:bodyPr>
          <a:lstStyle/>
          <a:p>
            <a:pPr algn="l">
              <a:lnSpc>
                <a:spcPct val="100000"/>
              </a:lnSpc>
              <a:spcAft>
                <a:spcPts val="0"/>
              </a:spcAft>
            </a:pPr>
            <a:r>
              <a:rPr sz="1300" b="0" i="0">
                <a:solidFill>
                  <a:srgbClr val="20232A"/>
                </a:solidFill>
                <a:latin typeface="Calibri"/>
              </a:rPr>
              <a:t>Bad-shot index</a:t>
            </a:r>
          </a:p>
        </p:txBody>
      </p:sp>
      <p:sp>
        <p:nvSpPr>
          <p:cNvPr id="21" name="TextBox 20"/>
          <p:cNvSpPr txBox="1"/>
          <p:nvPr/>
        </p:nvSpPr>
        <p:spPr>
          <a:xfrm>
            <a:off x="3566160" y="4937759"/>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6B7280"/>
                </a:solidFill>
                <a:latin typeface="Calibri"/>
              </a:rPr>
              <a:t>0.379</a:t>
            </a:r>
          </a:p>
        </p:txBody>
      </p:sp>
      <p:sp>
        <p:nvSpPr>
          <p:cNvPr id="22" name="TextBox 21"/>
          <p:cNvSpPr txBox="1"/>
          <p:nvPr/>
        </p:nvSpPr>
        <p:spPr>
          <a:xfrm>
            <a:off x="5394960" y="4937759"/>
            <a:ext cx="1737360" cy="320040"/>
          </a:xfrm>
          <a:prstGeom prst="rect">
            <a:avLst/>
          </a:prstGeom>
          <a:noFill/>
        </p:spPr>
        <p:txBody>
          <a:bodyPr wrap="square" anchor="t" lIns="0" rIns="0" tIns="0" bIns="0">
            <a:spAutoFit/>
          </a:bodyPr>
          <a:lstStyle/>
          <a:p>
            <a:pPr algn="l">
              <a:lnSpc>
                <a:spcPct val="100000"/>
              </a:lnSpc>
              <a:spcAft>
                <a:spcPts val="0"/>
              </a:spcAft>
            </a:pPr>
            <a:r>
              <a:rPr sz="1350" b="1" i="0">
                <a:solidFill>
                  <a:srgbClr val="007A33"/>
                </a:solidFill>
                <a:latin typeface="Calibri"/>
              </a:rPr>
              <a:t>0.273</a:t>
            </a:r>
          </a:p>
        </p:txBody>
      </p:sp>
      <p:sp>
        <p:nvSpPr>
          <p:cNvPr id="23" name="TextBox 22"/>
          <p:cNvSpPr txBox="1"/>
          <p:nvPr/>
        </p:nvSpPr>
        <p:spPr>
          <a:xfrm>
            <a:off x="859536" y="5138928"/>
            <a:ext cx="6035040" cy="457200"/>
          </a:xfrm>
          <a:prstGeom prst="rect">
            <a:avLst/>
          </a:prstGeom>
          <a:noFill/>
        </p:spPr>
        <p:txBody>
          <a:bodyPr wrap="square" anchor="t" lIns="0" rIns="0" tIns="0" bIns="0">
            <a:spAutoFit/>
          </a:bodyPr>
          <a:lstStyle/>
          <a:p>
            <a:pPr algn="l">
              <a:lnSpc>
                <a:spcPct val="105000"/>
              </a:lnSpc>
              <a:spcAft>
                <a:spcPts val="400"/>
              </a:spcAft>
            </a:pPr>
            <a:r>
              <a:rPr sz="1150" b="0" i="1">
                <a:solidFill>
                  <a:srgbClr val="6B7280"/>
                </a:solidFill>
                <a:latin typeface="Calibri"/>
              </a:rPr>
              <a:t>George takes the shots the system is built to generate. He plugs in instead of stopping it.</a:t>
            </a:r>
          </a:p>
        </p:txBody>
      </p:sp>
      <p:sp>
        <p:nvSpPr>
          <p:cNvPr id="24" name="Rounded Rectangle 23"/>
          <p:cNvSpPr/>
          <p:nvPr/>
        </p:nvSpPr>
        <p:spPr>
          <a:xfrm>
            <a:off x="7452360" y="1783080"/>
            <a:ext cx="4160520" cy="3977639"/>
          </a:xfrm>
          <a:prstGeom prst="roundRect">
            <a:avLst>
              <a:gd name="adj" fmla="val 8000"/>
            </a:avLst>
          </a:prstGeom>
          <a:solidFill>
            <a:srgbClr val="0A2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26679" y="2011680"/>
            <a:ext cx="3657600" cy="365760"/>
          </a:xfrm>
          <a:prstGeom prst="rect">
            <a:avLst/>
          </a:prstGeom>
          <a:noFill/>
        </p:spPr>
        <p:txBody>
          <a:bodyPr wrap="square" anchor="t" lIns="0" rIns="0" tIns="0" bIns="0">
            <a:spAutoFit/>
          </a:bodyPr>
          <a:lstStyle/>
          <a:p>
            <a:pPr algn="l">
              <a:lnSpc>
                <a:spcPct val="100000"/>
              </a:lnSpc>
              <a:spcAft>
                <a:spcPts val="0"/>
              </a:spcAft>
            </a:pPr>
            <a:r>
              <a:rPr sz="1250" b="1" i="0">
                <a:solidFill>
                  <a:srgbClr val="BCD3C6"/>
                </a:solidFill>
                <a:latin typeface="Calibri"/>
              </a:rPr>
              <a:t>PLUS THE PICKS</a:t>
            </a:r>
          </a:p>
        </p:txBody>
      </p:sp>
      <p:sp>
        <p:nvSpPr>
          <p:cNvPr id="26" name="TextBox 25"/>
          <p:cNvSpPr txBox="1"/>
          <p:nvPr/>
        </p:nvSpPr>
        <p:spPr>
          <a:xfrm>
            <a:off x="7726679" y="2468880"/>
            <a:ext cx="3657600" cy="914400"/>
          </a:xfrm>
          <a:prstGeom prst="rect">
            <a:avLst/>
          </a:prstGeom>
          <a:noFill/>
        </p:spPr>
        <p:txBody>
          <a:bodyPr wrap="square" anchor="t" lIns="0" rIns="0" tIns="0" bIns="0">
            <a:spAutoFit/>
          </a:bodyPr>
          <a:lstStyle/>
          <a:p>
            <a:pPr algn="l">
              <a:lnSpc>
                <a:spcPct val="105000"/>
              </a:lnSpc>
              <a:spcAft>
                <a:spcPts val="200"/>
              </a:spcAft>
            </a:pPr>
            <a:r>
              <a:rPr sz="2000" b="1" i="0">
                <a:solidFill>
                  <a:srgbClr val="FFFFFF"/>
                </a:solidFill>
                <a:latin typeface="Cambria"/>
              </a:rPr>
              <a:t>2028 first + 2031</a:t>
            </a:r>
          </a:p>
          <a:p>
            <a:pPr algn="l">
              <a:lnSpc>
                <a:spcPct val="105000"/>
              </a:lnSpc>
              <a:spcAft>
                <a:spcPts val="200"/>
              </a:spcAft>
            </a:pPr>
            <a:r>
              <a:rPr sz="2000" b="1" i="0">
                <a:solidFill>
                  <a:srgbClr val="FFFFFF"/>
                </a:solidFill>
                <a:latin typeface="Cambria"/>
              </a:rPr>
              <a:t>unprotected first</a:t>
            </a:r>
          </a:p>
        </p:txBody>
      </p:sp>
      <p:sp>
        <p:nvSpPr>
          <p:cNvPr id="27" name="TextBox 26"/>
          <p:cNvSpPr txBox="1"/>
          <p:nvPr/>
        </p:nvSpPr>
        <p:spPr>
          <a:xfrm>
            <a:off x="7726679" y="3520440"/>
            <a:ext cx="3657600" cy="1463040"/>
          </a:xfrm>
          <a:prstGeom prst="rect">
            <a:avLst/>
          </a:prstGeom>
          <a:noFill/>
        </p:spPr>
        <p:txBody>
          <a:bodyPr wrap="square" anchor="t" lIns="0" rIns="0" tIns="0" bIns="0">
            <a:spAutoFit/>
          </a:bodyPr>
          <a:lstStyle/>
          <a:p>
            <a:pPr algn="l">
              <a:lnSpc>
                <a:spcPct val="115000"/>
              </a:lnSpc>
              <a:spcAft>
                <a:spcPts val="400"/>
              </a:spcAft>
            </a:pPr>
            <a:r>
              <a:rPr sz="1250" b="0" i="0">
                <a:solidFill>
                  <a:srgbClr val="CFE0D6"/>
                </a:solidFill>
                <a:latin typeface="Calibri"/>
              </a:rPr>
              <a:t>Under the post-2019 flattened lottery exact odds enumerated across all 24,024 seed permutations, late-lottery firsts convey materially more top-4 equity than the old system.</a:t>
            </a:r>
          </a:p>
        </p:txBody>
      </p:sp>
      <p:sp>
        <p:nvSpPr>
          <p:cNvPr id="28" name="TextBox 27"/>
          <p:cNvSpPr txBox="1"/>
          <p:nvPr/>
        </p:nvSpPr>
        <p:spPr>
          <a:xfrm>
            <a:off x="7726679" y="5074920"/>
            <a:ext cx="3657600" cy="548640"/>
          </a:xfrm>
          <a:prstGeom prst="rect">
            <a:avLst/>
          </a:prstGeom>
          <a:noFill/>
        </p:spPr>
        <p:txBody>
          <a:bodyPr wrap="square" anchor="t" lIns="0" rIns="0" tIns="0" bIns="0">
            <a:spAutoFit/>
          </a:bodyPr>
          <a:lstStyle/>
          <a:p>
            <a:pPr algn="l">
              <a:lnSpc>
                <a:spcPct val="108000"/>
              </a:lnSpc>
              <a:spcAft>
                <a:spcPts val="400"/>
              </a:spcAft>
            </a:pPr>
            <a:r>
              <a:rPr sz="1150" b="0" i="1">
                <a:solidFill>
                  <a:srgbClr val="9AB2A4"/>
                </a:solidFill>
                <a:latin typeface="Calibri"/>
              </a:rPr>
              <a:t>Cheap, controllable, tradeable — the assets a capped-out roster can't otherwise get.</a:t>
            </a:r>
          </a:p>
        </p:txBody>
      </p:sp>
      <p:sp>
        <p:nvSpPr>
          <p:cNvPr id="29" name="TextBox 28"/>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5F7"/>
        </a:solidFill>
        <a:effectLst/>
      </p:bgPr>
    </p:bg>
    <p:spTree>
      <p:nvGrpSpPr>
        <p:cNvPr id="1" name=""/>
        <p:cNvGrpSpPr/>
        <p:nvPr/>
      </p:nvGrpSpPr>
      <p:grpSpPr/>
      <p:sp>
        <p:nvSpPr>
          <p:cNvPr id="2" name="TextBox 1"/>
          <p:cNvSpPr txBox="1"/>
          <p:nvPr/>
        </p:nvSpPr>
        <p:spPr>
          <a:xfrm>
            <a:off x="566928" y="384048"/>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007A33"/>
                </a:solidFill>
                <a:latin typeface="Calibri"/>
              </a:rPr>
              <a:t>WHERE THE CASE IS WEAKEST</a:t>
            </a:r>
          </a:p>
        </p:txBody>
      </p:sp>
      <p:sp>
        <p:nvSpPr>
          <p:cNvPr id="3" name="TextBox 2"/>
          <p:cNvSpPr txBox="1"/>
          <p:nvPr/>
        </p:nvSpPr>
        <p:spPr>
          <a:xfrm>
            <a:off x="566928" y="658368"/>
            <a:ext cx="11064240" cy="868680"/>
          </a:xfrm>
          <a:prstGeom prst="rect">
            <a:avLst/>
          </a:prstGeom>
          <a:noFill/>
        </p:spPr>
        <p:txBody>
          <a:bodyPr wrap="square" anchor="t" lIns="0" rIns="0" tIns="0" bIns="0">
            <a:spAutoFit/>
          </a:bodyPr>
          <a:lstStyle/>
          <a:p>
            <a:pPr algn="l">
              <a:lnSpc>
                <a:spcPct val="100000"/>
              </a:lnSpc>
              <a:spcAft>
                <a:spcPts val="0"/>
              </a:spcAft>
            </a:pPr>
            <a:r>
              <a:rPr sz="3000" b="1" i="0">
                <a:solidFill>
                  <a:srgbClr val="0A2A1A"/>
                </a:solidFill>
                <a:latin typeface="Cambria"/>
              </a:rPr>
              <a:t>The counter-evidence, on the record</a:t>
            </a:r>
          </a:p>
        </p:txBody>
      </p:sp>
      <p:sp>
        <p:nvSpPr>
          <p:cNvPr id="4" name="Rounded Rectangle 3"/>
          <p:cNvSpPr/>
          <p:nvPr/>
        </p:nvSpPr>
        <p:spPr>
          <a:xfrm>
            <a:off x="566928" y="1874519"/>
            <a:ext cx="3502152" cy="301752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7" y="2130552"/>
            <a:ext cx="384048" cy="384048"/>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Cambria"/>
              </a:rPr>
              <a:t>1</a:t>
            </a:r>
          </a:p>
        </p:txBody>
      </p:sp>
      <p:sp>
        <p:nvSpPr>
          <p:cNvPr id="6" name="TextBox 5"/>
          <p:cNvSpPr txBox="1"/>
          <p:nvPr/>
        </p:nvSpPr>
        <p:spPr>
          <a:xfrm>
            <a:off x="841247" y="2715768"/>
            <a:ext cx="2999232" cy="457200"/>
          </a:xfrm>
          <a:prstGeom prst="rect">
            <a:avLst/>
          </a:prstGeom>
          <a:noFill/>
        </p:spPr>
        <p:txBody>
          <a:bodyPr wrap="square" anchor="t" lIns="0" rIns="0" tIns="0" bIns="0">
            <a:spAutoFit/>
          </a:bodyPr>
          <a:lstStyle/>
          <a:p>
            <a:pPr algn="l">
              <a:lnSpc>
                <a:spcPct val="100000"/>
              </a:lnSpc>
              <a:spcAft>
                <a:spcPts val="0"/>
              </a:spcAft>
            </a:pPr>
            <a:r>
              <a:rPr sz="1600" b="1" i="0">
                <a:solidFill>
                  <a:srgbClr val="0A2A1A"/>
                </a:solidFill>
                <a:latin typeface="Cambria"/>
              </a:rPr>
              <a:t>Brown could carry</a:t>
            </a:r>
          </a:p>
        </p:txBody>
      </p:sp>
      <p:sp>
        <p:nvSpPr>
          <p:cNvPr id="7" name="TextBox 6"/>
          <p:cNvSpPr txBox="1"/>
          <p:nvPr/>
        </p:nvSpPr>
        <p:spPr>
          <a:xfrm>
            <a:off x="841247" y="3200400"/>
            <a:ext cx="2999232" cy="1554480"/>
          </a:xfrm>
          <a:prstGeom prst="rect">
            <a:avLst/>
          </a:prstGeom>
          <a:noFill/>
        </p:spPr>
        <p:txBody>
          <a:bodyPr wrap="square" anchor="t" lIns="0" rIns="0" tIns="0" bIns="0">
            <a:spAutoFit/>
          </a:bodyPr>
          <a:lstStyle/>
          <a:p>
            <a:pPr algn="l">
              <a:lnSpc>
                <a:spcPct val="112000"/>
              </a:lnSpc>
              <a:spcAft>
                <a:spcPts val="400"/>
              </a:spcAft>
            </a:pPr>
            <a:r>
              <a:rPr sz="1280" b="0" i="0">
                <a:solidFill>
                  <a:srgbClr val="6B7280"/>
                </a:solidFill>
                <a:latin typeface="Calibri"/>
              </a:rPr>
              <a:t>His 7-game solo cell was the best in the 2024-25 matrix (6-1, +15.8), and he carried 58 games alone in 2025-26 at 28.9 ppg (36-22, +5.7). The man can be a first option — just not here.</a:t>
            </a:r>
          </a:p>
        </p:txBody>
      </p:sp>
      <p:sp>
        <p:nvSpPr>
          <p:cNvPr id="8" name="Rounded Rectangle 7"/>
          <p:cNvSpPr/>
          <p:nvPr/>
        </p:nvSpPr>
        <p:spPr>
          <a:xfrm>
            <a:off x="4352544" y="1874519"/>
            <a:ext cx="3502152" cy="301752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26864" y="2130552"/>
            <a:ext cx="384048" cy="384048"/>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Cambria"/>
              </a:rPr>
              <a:t>2</a:t>
            </a:r>
          </a:p>
        </p:txBody>
      </p:sp>
      <p:sp>
        <p:nvSpPr>
          <p:cNvPr id="10" name="TextBox 9"/>
          <p:cNvSpPr txBox="1"/>
          <p:nvPr/>
        </p:nvSpPr>
        <p:spPr>
          <a:xfrm>
            <a:off x="4626864" y="2715768"/>
            <a:ext cx="2999232" cy="457200"/>
          </a:xfrm>
          <a:prstGeom prst="rect">
            <a:avLst/>
          </a:prstGeom>
          <a:noFill/>
        </p:spPr>
        <p:txBody>
          <a:bodyPr wrap="square" anchor="t" lIns="0" rIns="0" tIns="0" bIns="0">
            <a:spAutoFit/>
          </a:bodyPr>
          <a:lstStyle/>
          <a:p>
            <a:pPr algn="l">
              <a:lnSpc>
                <a:spcPct val="100000"/>
              </a:lnSpc>
              <a:spcAft>
                <a:spcPts val="0"/>
              </a:spcAft>
            </a:pPr>
            <a:r>
              <a:rPr sz="1600" b="1" i="0">
                <a:solidFill>
                  <a:srgbClr val="0A2A1A"/>
                </a:solidFill>
                <a:latin typeface="Cambria"/>
              </a:rPr>
              <a:t>The defense is a real loss</a:t>
            </a:r>
          </a:p>
        </p:txBody>
      </p:sp>
      <p:sp>
        <p:nvSpPr>
          <p:cNvPr id="11" name="TextBox 10"/>
          <p:cNvSpPr txBox="1"/>
          <p:nvPr/>
        </p:nvSpPr>
        <p:spPr>
          <a:xfrm>
            <a:off x="4626864" y="3200400"/>
            <a:ext cx="2999232" cy="1554480"/>
          </a:xfrm>
          <a:prstGeom prst="rect">
            <a:avLst/>
          </a:prstGeom>
          <a:noFill/>
        </p:spPr>
        <p:txBody>
          <a:bodyPr wrap="square" anchor="t" lIns="0" rIns="0" tIns="0" bIns="0">
            <a:spAutoFit/>
          </a:bodyPr>
          <a:lstStyle/>
          <a:p>
            <a:pPr algn="l">
              <a:lnSpc>
                <a:spcPct val="112000"/>
              </a:lnSpc>
              <a:spcAft>
                <a:spcPts val="400"/>
              </a:spcAft>
            </a:pPr>
            <a:r>
              <a:rPr sz="1280" b="0" i="0">
                <a:solidFill>
                  <a:srgbClr val="6B7280"/>
                </a:solidFill>
                <a:latin typeface="Calibri"/>
              </a:rPr>
              <a:t>Brown took 19% of his defended possessions against opponents' #1 options (Tatum: 8%) at better points-allowed, with -4.2/-5.7 defended-FG% margins. Boston traded its toughest assignment.</a:t>
            </a:r>
          </a:p>
        </p:txBody>
      </p:sp>
      <p:sp>
        <p:nvSpPr>
          <p:cNvPr id="12" name="Rounded Rectangle 11"/>
          <p:cNvSpPr/>
          <p:nvPr/>
        </p:nvSpPr>
        <p:spPr>
          <a:xfrm>
            <a:off x="8138159" y="1874519"/>
            <a:ext cx="3502152" cy="3017520"/>
          </a:xfrm>
          <a:prstGeom prst="roundRect">
            <a:avLst>
              <a:gd name="adj" fmla="val 8000"/>
            </a:avLst>
          </a:prstGeom>
          <a:solidFill>
            <a:srgbClr val="FFFFFF"/>
          </a:solidFill>
          <a:ln w="12700">
            <a:solidFill>
              <a:srgbClr val="D7DA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412480" y="2130552"/>
            <a:ext cx="384048" cy="384048"/>
          </a:xfrm>
          <a:prstGeom prst="ellipse">
            <a:avLst/>
          </a:prstGeom>
          <a:solidFill>
            <a:srgbClr val="B3403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Cambria"/>
              </a:rPr>
              <a:t>3</a:t>
            </a:r>
          </a:p>
        </p:txBody>
      </p:sp>
      <p:sp>
        <p:nvSpPr>
          <p:cNvPr id="14" name="TextBox 13"/>
          <p:cNvSpPr txBox="1"/>
          <p:nvPr/>
        </p:nvSpPr>
        <p:spPr>
          <a:xfrm>
            <a:off x="8412480" y="2715768"/>
            <a:ext cx="2999232" cy="457200"/>
          </a:xfrm>
          <a:prstGeom prst="rect">
            <a:avLst/>
          </a:prstGeom>
          <a:noFill/>
        </p:spPr>
        <p:txBody>
          <a:bodyPr wrap="square" anchor="t" lIns="0" rIns="0" tIns="0" bIns="0">
            <a:spAutoFit/>
          </a:bodyPr>
          <a:lstStyle/>
          <a:p>
            <a:pPr algn="l">
              <a:lnSpc>
                <a:spcPct val="100000"/>
              </a:lnSpc>
              <a:spcAft>
                <a:spcPts val="0"/>
              </a:spcAft>
            </a:pPr>
            <a:r>
              <a:rPr sz="1600" b="1" i="0">
                <a:solidFill>
                  <a:srgbClr val="0A2A1A"/>
                </a:solidFill>
                <a:latin typeface="Cambria"/>
              </a:rPr>
              <a:t>The turnover tax wasn't his</a:t>
            </a:r>
          </a:p>
        </p:txBody>
      </p:sp>
      <p:sp>
        <p:nvSpPr>
          <p:cNvPr id="15" name="TextBox 14"/>
          <p:cNvSpPr txBox="1"/>
          <p:nvPr/>
        </p:nvSpPr>
        <p:spPr>
          <a:xfrm>
            <a:off x="8412480" y="3200400"/>
            <a:ext cx="2999232" cy="1554480"/>
          </a:xfrm>
          <a:prstGeom prst="rect">
            <a:avLst/>
          </a:prstGeom>
          <a:noFill/>
        </p:spPr>
        <p:txBody>
          <a:bodyPr wrap="square" anchor="t" lIns="0" rIns="0" tIns="0" bIns="0">
            <a:spAutoFit/>
          </a:bodyPr>
          <a:lstStyle/>
          <a:p>
            <a:pPr algn="l">
              <a:lnSpc>
                <a:spcPct val="112000"/>
              </a:lnSpc>
              <a:spcAft>
                <a:spcPts val="400"/>
              </a:spcAft>
            </a:pPr>
            <a:r>
              <a:rPr sz="1280" b="0" i="0">
                <a:solidFill>
                  <a:srgbClr val="6B7280"/>
                </a:solidFill>
                <a:latin typeface="Calibri"/>
              </a:rPr>
              <a:t>Play-by-play says Brown's live-ball TO rate (1.75/36) was LOWER than Tatum's (1.84) in 2024-25. That angle exonerates him — and the media consensus graded the trade for Philadelphia.</a:t>
            </a:r>
          </a:p>
        </p:txBody>
      </p:sp>
      <p:sp>
        <p:nvSpPr>
          <p:cNvPr id="16" name="TextBox 15"/>
          <p:cNvSpPr txBox="1"/>
          <p:nvPr/>
        </p:nvSpPr>
        <p:spPr>
          <a:xfrm>
            <a:off x="566928" y="5212080"/>
            <a:ext cx="11064240" cy="822960"/>
          </a:xfrm>
          <a:prstGeom prst="rect">
            <a:avLst/>
          </a:prstGeom>
          <a:noFill/>
        </p:spPr>
        <p:txBody>
          <a:bodyPr wrap="square" anchor="t" lIns="0" rIns="0" tIns="0" bIns="0">
            <a:spAutoFit/>
          </a:bodyPr>
          <a:lstStyle/>
          <a:p>
            <a:pPr algn="l">
              <a:lnSpc>
                <a:spcPct val="110000"/>
              </a:lnSpc>
              <a:spcAft>
                <a:spcPts val="400"/>
              </a:spcAft>
            </a:pPr>
            <a:r>
              <a:rPr sz="1400" b="1" i="0">
                <a:solidFill>
                  <a:srgbClr val="0A2A1A"/>
                </a:solidFill>
                <a:latin typeface="Calibri"/>
              </a:rPr>
              <a:t>Brown as an individual is a remarkable basketball player, there is no denying that. </a:t>
            </a:r>
            <a:r>
              <a:rPr sz="1400" b="0" i="0">
                <a:solidFill>
                  <a:srgbClr val="6B7280"/>
                </a:solidFill>
                <a:latin typeface="Calibri"/>
              </a:rPr>
              <a:t>But he was just an expensive player that didn't quite fit what the Celtics are trying to do. The data says the best version of this team was always Tatum at the top.</a:t>
            </a:r>
          </a:p>
        </p:txBody>
      </p:sp>
      <p:sp>
        <p:nvSpPr>
          <p:cNvPr id="17" name="TextBox 16"/>
          <p:cNvSpPr txBox="1"/>
          <p:nvPr/>
        </p:nvSpPr>
        <p:spPr>
          <a:xfrm>
            <a:off x="566928" y="6510528"/>
            <a:ext cx="11064240" cy="274320"/>
          </a:xfrm>
          <a:prstGeom prst="rect">
            <a:avLst/>
          </a:prstGeom>
          <a:noFill/>
        </p:spPr>
        <p:txBody>
          <a:bodyPr wrap="square" anchor="t" lIns="0" rIns="0" tIns="0" bIns="0">
            <a:spAutoFit/>
          </a:bodyPr>
          <a:lstStyle/>
          <a:p>
            <a:pPr algn="l">
              <a:lnSpc>
                <a:spcPct val="100000"/>
              </a:lnSpc>
              <a:spcAft>
                <a:spcPts val="0"/>
              </a:spcAft>
            </a:pPr>
            <a:r>
              <a:rPr sz="900" b="0" i="0">
                <a:solidFill>
                  <a:srgbClr val="6B7280"/>
                </a:solidFill>
                <a:latin typeface="Calibri"/>
              </a:rPr>
              <a:t>Fit Check · Jaylen Brown Trade Audit</a:t>
            </a:r>
            <a:r>
              <a:rPr sz="900" b="0" i="0">
                <a:solidFill>
                  <a:srgbClr val="6B7280"/>
                </a:solidFill>
                <a:latin typeface="Calibri"/>
              </a:rPr>
              <a:t>      Data: nba_api / Basketball-Reference · 2024-25 &amp; 2025-26 · July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2A1A"/>
        </a:solidFill>
        <a:effectLst/>
      </p:bgPr>
    </p:bg>
    <p:spTree>
      <p:nvGrpSpPr>
        <p:cNvPr id="1" name=""/>
        <p:cNvGrpSpPr/>
        <p:nvPr/>
      </p:nvGrpSpPr>
      <p:grpSpPr/>
      <p:sp>
        <p:nvSpPr>
          <p:cNvPr id="2" name="Oval 1"/>
          <p:cNvSpPr/>
          <p:nvPr/>
        </p:nvSpPr>
        <p:spPr>
          <a:xfrm>
            <a:off x="566928" y="640080"/>
            <a:ext cx="310896" cy="310896"/>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621792"/>
            <a:ext cx="9144000" cy="365760"/>
          </a:xfrm>
          <a:prstGeom prst="rect">
            <a:avLst/>
          </a:prstGeom>
          <a:noFill/>
        </p:spPr>
        <p:txBody>
          <a:bodyPr wrap="square" anchor="t" lIns="0" rIns="0" tIns="0" bIns="0">
            <a:spAutoFit/>
          </a:bodyPr>
          <a:lstStyle/>
          <a:p>
            <a:pPr algn="l">
              <a:lnSpc>
                <a:spcPct val="100000"/>
              </a:lnSpc>
              <a:spcAft>
                <a:spcPts val="0"/>
              </a:spcAft>
            </a:pPr>
            <a:r>
              <a:rPr sz="1300" b="1" i="0">
                <a:solidFill>
                  <a:srgbClr val="BCD3C6"/>
                </a:solidFill>
                <a:latin typeface="Calibri"/>
              </a:rPr>
              <a:t>BOTTOM LINE</a:t>
            </a:r>
          </a:p>
        </p:txBody>
      </p:sp>
      <p:sp>
        <p:nvSpPr>
          <p:cNvPr id="4" name="Oval 3"/>
          <p:cNvSpPr/>
          <p:nvPr/>
        </p:nvSpPr>
        <p:spPr>
          <a:xfrm>
            <a:off x="640080" y="1837943"/>
            <a:ext cx="164592" cy="164592"/>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783080"/>
            <a:ext cx="10424160" cy="914400"/>
          </a:xfrm>
          <a:prstGeom prst="rect">
            <a:avLst/>
          </a:prstGeom>
          <a:noFill/>
        </p:spPr>
        <p:txBody>
          <a:bodyPr wrap="square" anchor="t" lIns="0" rIns="0" tIns="0" bIns="0">
            <a:spAutoFit/>
          </a:bodyPr>
          <a:lstStyle/>
          <a:p>
            <a:pPr algn="l">
              <a:lnSpc>
                <a:spcPct val="110000"/>
              </a:lnSpc>
              <a:spcAft>
                <a:spcPts val="200"/>
              </a:spcAft>
            </a:pPr>
            <a:r>
              <a:rPr sz="2100" b="1" i="0">
                <a:solidFill>
                  <a:srgbClr val="FFFFFF"/>
                </a:solidFill>
                <a:latin typeface="Cambria"/>
              </a:rPr>
              <a:t>The fit was real and it was drifting.  </a:t>
            </a:r>
            <a:r>
              <a:rPr sz="1500" b="0" i="0">
                <a:solidFill>
                  <a:srgbClr val="CFE0D6"/>
                </a:solidFill>
                <a:latin typeface="Calibri"/>
              </a:rPr>
              <a:t>Fewer threes, doubled long twos, two-thirds self-created — with no shot-making premium to pay for it.</a:t>
            </a:r>
          </a:p>
        </p:txBody>
      </p:sp>
      <p:sp>
        <p:nvSpPr>
          <p:cNvPr id="6" name="Oval 5"/>
          <p:cNvSpPr/>
          <p:nvPr/>
        </p:nvSpPr>
        <p:spPr>
          <a:xfrm>
            <a:off x="640080" y="3072384"/>
            <a:ext cx="164592" cy="164592"/>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017520"/>
            <a:ext cx="10424160" cy="914400"/>
          </a:xfrm>
          <a:prstGeom prst="rect">
            <a:avLst/>
          </a:prstGeom>
          <a:noFill/>
        </p:spPr>
        <p:txBody>
          <a:bodyPr wrap="square" anchor="t" lIns="0" rIns="0" tIns="0" bIns="0">
            <a:spAutoFit/>
          </a:bodyPr>
          <a:lstStyle/>
          <a:p>
            <a:pPr algn="l">
              <a:lnSpc>
                <a:spcPct val="110000"/>
              </a:lnSpc>
              <a:spcAft>
                <a:spcPts val="200"/>
              </a:spcAft>
            </a:pPr>
            <a:r>
              <a:rPr sz="2100" b="1" i="0">
                <a:solidFill>
                  <a:srgbClr val="FFFFFF"/>
                </a:solidFill>
                <a:latin typeface="Cambria"/>
              </a:rPr>
              <a:t>The value was contingent.  </a:t>
            </a:r>
            <a:r>
              <a:rPr sz="1500" b="0" i="0">
                <a:solidFill>
                  <a:srgbClr val="CFE0D6"/>
                </a:solidFill>
                <a:latin typeface="Calibri"/>
              </a:rPr>
              <a:t>Brown-led lineups needed Tatum and White on the floor; at 34% of the cap, contingent is expensive.</a:t>
            </a:r>
          </a:p>
        </p:txBody>
      </p:sp>
      <p:sp>
        <p:nvSpPr>
          <p:cNvPr id="8" name="Oval 7"/>
          <p:cNvSpPr/>
          <p:nvPr/>
        </p:nvSpPr>
        <p:spPr>
          <a:xfrm>
            <a:off x="640080" y="4306824"/>
            <a:ext cx="164592" cy="164592"/>
          </a:xfrm>
          <a:prstGeom prst="ellipse">
            <a:avLst/>
          </a:prstGeom>
          <a:solidFill>
            <a:srgbClr val="BA96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251960"/>
            <a:ext cx="10424160" cy="914400"/>
          </a:xfrm>
          <a:prstGeom prst="rect">
            <a:avLst/>
          </a:prstGeom>
          <a:noFill/>
        </p:spPr>
        <p:txBody>
          <a:bodyPr wrap="square" anchor="t" lIns="0" rIns="0" tIns="0" bIns="0">
            <a:spAutoFit/>
          </a:bodyPr>
          <a:lstStyle/>
          <a:p>
            <a:pPr algn="l">
              <a:lnSpc>
                <a:spcPct val="110000"/>
              </a:lnSpc>
              <a:spcAft>
                <a:spcPts val="200"/>
              </a:spcAft>
            </a:pPr>
            <a:r>
              <a:rPr sz="2100" b="1" i="0">
                <a:solidFill>
                  <a:srgbClr val="FFFFFF"/>
                </a:solidFill>
                <a:latin typeface="Cambria"/>
              </a:rPr>
              <a:t>The return buys identity and optionality.  </a:t>
            </a:r>
            <a:r>
              <a:rPr sz="1500" b="0" i="0">
                <a:solidFill>
                  <a:srgbClr val="CFE0D6"/>
                </a:solidFill>
                <a:latin typeface="Calibri"/>
              </a:rPr>
              <a:t>George takes the system's shots; two firsts add the cheap, controllable assets a capped roster can't otherwise acquire.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
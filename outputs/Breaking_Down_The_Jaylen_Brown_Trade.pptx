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566928"/>
            <a:ext cx="310896" cy="310896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48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CD3C6"/>
                </a:solidFill>
                <a:latin typeface="Calibri"/>
              </a:rPr>
              <a:t>BOSTON CELTICS  ·  FIT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Breaking Down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BA9653"/>
                </a:solidFill>
                <a:latin typeface="Cambria"/>
              </a:rPr>
              <a:t>the Jaylen Brown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CFE0D6"/>
                </a:solidFill>
                <a:latin typeface="Calibri"/>
              </a:rPr>
              <a:t>On July 1, 2026 Boston traded Brown to Philadelphia for Paul George and picks. This is the audit, built the day after: a neutral scorecard, the strongest evidence-based case for the trade, and every counter-argument we could find.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FA89B"/>
                </a:solidFill>
                <a:latin typeface="Calibri"/>
              </a:rPr>
              <a:t>Numbers, not takes · nba_api + Basketball-Reference · unit-tested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A $53M wing, a movement-3 system, and a real trade to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02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7A33"/>
                </a:solidFill>
                <a:latin typeface="Cambria"/>
              </a:rPr>
              <a:t>34.4%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2A1A"/>
                </a:solidFill>
                <a:latin typeface="Calibri"/>
              </a:rPr>
              <a:t>of the salary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$53.1M in 2025-26 — over a third of the sheet on one 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74519"/>
            <a:ext cx="3502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B3403A"/>
                </a:solidFill>
                <a:latin typeface="Cambria"/>
              </a:rPr>
              <a:t>+16%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2A1A"/>
                </a:solidFill>
                <a:latin typeface="Calibri"/>
              </a:rPr>
              <a:t>worse shot diet,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bad-shot index 0.328 → 0.379 — drifting away from the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74519"/>
            <a:ext cx="3502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7A33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2A1A"/>
                </a:solidFill>
                <a:latin typeface="Calibri"/>
              </a:rPr>
              <a:t>assets back from PHI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Paul George, a 2028 first, a 2031 unprotected first, two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4340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 i="0">
                <a:solidFill>
                  <a:srgbClr val="20232A"/>
                </a:solidFill>
                <a:latin typeface="Calibri"/>
              </a:rPr>
              <a:t>Boston's edge was a movement-3 offense with five connected players. </a:t>
            </a:r>
            <a:r>
              <a:rPr sz="1500" b="0" i="0">
                <a:solidFill>
                  <a:srgbClr val="20232A"/>
                </a:solidFill>
                <a:latin typeface="Calibri"/>
              </a:rPr>
              <a:t>The question this deck answers with data: did Brown's game pull with that identity or against it — and was the return worth it? </a:t>
            </a:r>
            <a:r>
              <a:rPr sz="1500" b="1" i="0">
                <a:solidFill>
                  <a:srgbClr val="007A33"/>
                </a:solidFill>
                <a:latin typeface="Calibri"/>
              </a:rPr>
              <a:t>Every chart comes from a reproducible, unit-tested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SHOT DIET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The shot profile was drifting away from what Boston wins with</a:t>
            </a:r>
          </a:p>
        </p:txBody>
      </p:sp>
      <p:pic>
        <p:nvPicPr>
          <p:cNvPr id="4" name="Picture 3" descr="case_for_moving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949440" cy="304933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726679" y="1819656"/>
            <a:ext cx="146304" cy="146304"/>
          </a:xfrm>
          <a:prstGeom prst="ellipse">
            <a:avLst/>
          </a:prstGeom>
          <a:solidFill>
            <a:srgbClr val="B3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19288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Fewer threes, doubled long twos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30" b="0" i="0">
                <a:solidFill>
                  <a:srgbClr val="6B7280"/>
                </a:solidFill>
                <a:latin typeface="Calibri"/>
              </a:rPr>
              <a:t>3PT rate fell 0.32 → 0.26; long-two rate doubled 0.07 → 0.14 — the one shot the system exists to kill.</a:t>
            </a:r>
          </a:p>
        </p:txBody>
      </p:sp>
      <p:sp>
        <p:nvSpPr>
          <p:cNvPr id="7" name="Oval 6"/>
          <p:cNvSpPr/>
          <p:nvPr/>
        </p:nvSpPr>
        <p:spPr>
          <a:xfrm>
            <a:off x="7726679" y="3026664"/>
            <a:ext cx="146304" cy="146304"/>
          </a:xfrm>
          <a:prstGeom prst="ellipse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2990088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Two-thirds self-created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30" b="0" i="0">
                <a:solidFill>
                  <a:srgbClr val="6B7280"/>
                </a:solidFill>
                <a:latin typeface="Calibri"/>
              </a:rPr>
              <a:t>Iso / 3+ dribble rate rose 0.53 → 0.64, with more late-clock bailouts (0.18 → 0.22).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4233672"/>
            <a:ext cx="146304" cy="146304"/>
          </a:xfrm>
          <a:prstGeom prst="ellipse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4197096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No tough-shot premium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30" b="0" i="0">
                <a:solidFill>
                  <a:srgbClr val="6B7280"/>
                </a:solidFill>
                <a:latin typeface="Calibri"/>
              </a:rPr>
              <a:t>The xFG model (2,661 shots) scores his shot-making at expectation — ≈ +0.000 both years. The difficulty is self-inflicted.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778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0232A"/>
                </a:solidFill>
                <a:latin typeface="Calibri"/>
              </a:rPr>
              <a:t>This is the cleanest, least-confounded number in the file: </a:t>
            </a:r>
            <a:r>
              <a:rPr sz="1400" b="1" i="0">
                <a:solidFill>
                  <a:srgbClr val="0A2A1A"/>
                </a:solidFill>
                <a:latin typeface="Calibri"/>
              </a:rPr>
              <a:t>the possession-termination profile trended away from the identity, with no shot-making bailout.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GAME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Boston's identity is math — and Brown was its one outlier</a:t>
            </a:r>
          </a:p>
        </p:txBody>
      </p:sp>
      <p:pic>
        <p:nvPicPr>
          <p:cNvPr id="4" name="Picture 3" descr="three_point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39425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5321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#1 · #1 · #4 in three-point volume and a top-2 offense all three years — threes returned 1.10 points per shot vs 0.97 for twos. </a:t>
            </a:r>
            <a:r>
              <a:rPr sz="1300" b="1" i="0">
                <a:solidFill>
                  <a:srgbClr val="B3403A"/>
                </a:solidFill>
                <a:latin typeface="Calibri"/>
              </a:rPr>
              <a:t>Brown: last of 7 perimeter players in 3PT rate (.263 vs team .467), first in long twos.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A shot-mix problem, not a finishing one (his 1.046 PPS vs 1.101) — and honestly priced, swapping his diet for George's is roughly a wash after creation and aging discounts. The offense case supports; it doesn't headline.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WHERE THE SHOTS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Redistribute Brown's 21.7 shots to the wings — priced honestly</a:t>
            </a:r>
          </a:p>
        </p:txBody>
      </p:sp>
      <p:pic>
        <p:nvPicPr>
          <p:cNvPr id="4" name="Picture 3" descr="wing_re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79" y="1554480"/>
            <a:ext cx="9751161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486400"/>
            <a:ext cx="11064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007A33"/>
                </a:solidFill>
                <a:latin typeface="Calibri"/>
              </a:rPr>
              <a:t>Ceiling: +1.3 pts/g (~3.5 wins) if every wing's efficiency survived the extra volume — it won't. </a:t>
            </a:r>
            <a:r>
              <a:rPr sz="1300" b="0" i="0">
                <a:solidFill>
                  <a:srgbClr val="20232A"/>
                </a:solidFill>
                <a:latin typeface="Calibri"/>
              </a:rPr>
              <a:t>Usage-adjusted: roughly a wash (−0.7 to +0.9 wins). And the George-only 1-for-1 is negative — spreading beats concentrating. </a:t>
            </a:r>
            <a:r>
              <a:rPr sz="1300" b="1" i="0">
                <a:solidFill>
                  <a:srgbClr val="0A2A1A"/>
                </a:solidFill>
                <a:latin typeface="Calibri"/>
              </a:rPr>
              <a:t>The real upside isn't in this mechanical model — it's Tatum's creation (5.7-6.1 ast, .498 3PT-rate gravity) upgrading the shots these wings get, and that effect is already measured in the +11.9 Tatum-led lineups. Combined honest range: ~+4 to +8 wins — the projections overlap and do NOT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CONTINGENT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The production needed Tatum and White to prop it up</a:t>
            </a:r>
          </a:p>
        </p:txBody>
      </p:sp>
      <p:pic>
        <p:nvPicPr>
          <p:cNvPr id="4" name="Picture 3" descr="with_without_net_2025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035040" cy="387109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858000" y="1819656"/>
            <a:ext cx="146304" cy="146304"/>
          </a:xfrm>
          <a:prstGeom prst="ellipse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78308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0A2A1A"/>
                </a:solidFill>
                <a:latin typeface="Calibri"/>
              </a:rPr>
              <a:t>With Tatum: +16.2 · without: +4.8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An 11.3-point swing in 2025-26. Brown's lineups won when the infrastructure was on the floor.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3191256"/>
            <a:ext cx="146304" cy="146304"/>
          </a:xfrm>
          <a:prstGeom prst="ellipse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0608" y="315468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0A2A1A"/>
                </a:solidFill>
                <a:latin typeface="Calibri"/>
              </a:rPr>
              <a:t>With White: +9.4 · without: −1.0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Same story with the other connector — Brown-led lineups without White were underwater.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4562856"/>
            <a:ext cx="146304" cy="146304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452628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0A2A1A"/>
                </a:solidFill>
                <a:latin typeface="Calibri"/>
              </a:rPr>
              <a:t>The honest caveat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Tatum's injury contaminates the 2025-26 split; the confound is documented, not hidden. It softens — but doesn't reverse — the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9436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1">
                <a:solidFill>
                  <a:srgbClr val="007A33"/>
                </a:solidFill>
                <a:latin typeface="Calibri"/>
              </a:rPr>
              <a:t>A $53M player whose value is contingent on his co-stars is a fit problem, not a star.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HIERARCHY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First-option Tatum beat load-sharing — on the floor and in the standings</a:t>
            </a:r>
          </a:p>
        </p:txBody>
      </p:sp>
      <p:pic>
        <p:nvPicPr>
          <p:cNvPr id="4" name="Picture 3" descr="tatum_first_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766560" cy="278344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589520" y="1773936"/>
            <a:ext cx="146304" cy="146304"/>
          </a:xfrm>
          <a:prstGeom prst="ellipse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82128" y="1737360"/>
            <a:ext cx="4069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25-4 (86.2%) when Brown sat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20" b="0" i="0">
                <a:solidFill>
                  <a:srgbClr val="6B7280"/>
                </a:solidFill>
                <a:latin typeface="Calibri"/>
              </a:rPr>
              <a:t>29 games, 2023-present, +13.3/game — including 10-0 in the title year. Both healthy: 73.7%. Lineups: Tatum-led +11.9 &gt; together +7.6 &gt; neither +3.5 (control).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3090672"/>
            <a:ext cx="146304" cy="146304"/>
          </a:xfrm>
          <a:prstGeom prst="ellipse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8" y="3054096"/>
            <a:ext cx="4069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Usage up, efficiency mostly holds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20" b="0" i="0">
                <a:solidFill>
                  <a:srgbClr val="6B7280"/>
                </a:solidFill>
                <a:latin typeface="Calibri"/>
              </a:rPr>
              <a:t>Pooled: 28.0/7.9/5.7 at 34.6% usage (+4.7 pts of usage), TS .593 → .572 — a modest efficiency dip, printed, not hidden.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4407407"/>
            <a:ext cx="146304" cy="146304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8" y="4370831"/>
            <a:ext cx="4069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Worth ~5-7 wins a season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20" b="0" i="0">
                <a:solidFill>
                  <a:srgbClr val="6B7280"/>
                </a:solidFill>
                <a:latin typeface="Calibri"/>
              </a:rPr>
              <a:t>Projection, not observation: the +4.3 lineup gap, shrunk 40-60% for bench/garbage contamination → +1.7-2.6 team net → +4.7-7.0 wins. Assumptions documented in the memo.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17720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Tatum's projected solo season: </a:t>
            </a:r>
            <a:r>
              <a:rPr sz="1300" b="1" i="0">
                <a:solidFill>
                  <a:srgbClr val="007A33"/>
                </a:solidFill>
                <a:latin typeface="Calibri"/>
              </a:rPr>
              <a:t>27.2-28.8 pts · 7.8-8.9 reb · 5.1-6.2 ast · .566-.584 TS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— stated as a range from the observed 16-game sample and a documented usage-tradeoff model, because false precision is how decks lie.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93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Calibri"/>
              </a:rPr>
              <a:t>Honesty flags: Wilson intervals on the win rates overlap — claim is 'no evidence of drop-off,' not proof. And Brown's own 7-game solo cell was the matrix's best (6-1, +15.8). See slide 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Max-contract price, below-median-efficiency production</a:t>
            </a:r>
          </a:p>
        </p:txBody>
      </p:sp>
      <p:pic>
        <p:nvPicPr>
          <p:cNvPr id="4" name="Picture 3" descr="efficiency_co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9966960" cy="4111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0232A"/>
                </a:solidFill>
                <a:latin typeface="Calibri"/>
              </a:rPr>
              <a:t>6.9 WS on $53.1M = $7.7M per win share at 34% of the cap, with a 0.573 TS% — below the max-wing median. </a:t>
            </a:r>
            <a:r>
              <a:rPr sz="1400" b="1" i="0">
                <a:solidFill>
                  <a:srgbClr val="007A33"/>
                </a:solidFill>
                <a:latin typeface="Calibri"/>
              </a:rPr>
              <a:t>Picks 15-30 buy the same wins at ~$2.1M/WS on rookie deals.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George is the cleaner stylistic fit — and the picks are the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65836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99339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2A1A"/>
                </a:solidFill>
                <a:latin typeface="Cambria"/>
              </a:rPr>
              <a:t>2025-26 shot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Calibri"/>
              </a:rPr>
              <a:t>BROWN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7A33"/>
                </a:solidFill>
                <a:latin typeface="Calibri"/>
              </a:rPr>
              <a:t>GEORGE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43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3PT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0.262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7432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9184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Catch-&amp;-shoot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2918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0.409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4048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Iso / 3+ dribble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8404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0.639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8404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3891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Contested-shot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3891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0.517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3891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0.370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93775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Bad-shot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37759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937759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0.273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13892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Calibri"/>
              </a:rPr>
              <a:t>George takes the shots the system is built to generate — he plugs in instead of stopping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783080"/>
            <a:ext cx="4160520" cy="3977639"/>
          </a:xfrm>
          <a:prstGeom prst="roundRect">
            <a:avLst>
              <a:gd name="adj" fmla="val 8000"/>
            </a:avLst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CD3C6"/>
                </a:solidFill>
                <a:latin typeface="Calibri"/>
              </a:rPr>
              <a:t>PLUS THE PICKS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46888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2028 first + 2031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unprotected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5204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0">
                <a:solidFill>
                  <a:srgbClr val="CFE0D6"/>
                </a:solidFill>
                <a:latin typeface="Calibri"/>
              </a:rPr>
              <a:t>Under the post-2019 flattened lottery — exact odds enumerated across all 24,024 seed permutations — late-lottery firsts convey materially more top-4 equity than the old system.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0749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1">
                <a:solidFill>
                  <a:srgbClr val="9AB2A4"/>
                </a:solidFill>
                <a:latin typeface="Calibri"/>
              </a:rPr>
              <a:t>Cheap, controllable, tradeable — the assets a capped-out roster can't otherwise get.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WHERE THE CASE IS WEAKEST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The counter-evidence, on the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0215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2130552"/>
            <a:ext cx="384048" cy="384048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71576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2A1A"/>
                </a:solidFill>
                <a:latin typeface="Cambria"/>
              </a:rPr>
              <a:t>Brown could carry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200400"/>
            <a:ext cx="29992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His 7-game solo cell was the best in the 2024-25 matrix (6-1, +15.8), and he carried 58 games alone in 2025-26 at 28.9 ppg (36-22, +5.7). The man can be a first option — just not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74519"/>
            <a:ext cx="350215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26864" y="2130552"/>
            <a:ext cx="384048" cy="384048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71576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2A1A"/>
                </a:solidFill>
                <a:latin typeface="Cambria"/>
              </a:rPr>
              <a:t>The defense is a real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200400"/>
            <a:ext cx="29992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Brown took 19% of his defended possessions against opponents' #1 options (Tatum: 8%) at better points-allowed, with -4.2/-5.7 defended-FG% margins. Boston traded its toughest assignment.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74519"/>
            <a:ext cx="350215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130552"/>
            <a:ext cx="384048" cy="384048"/>
          </a:xfrm>
          <a:prstGeom prst="ellipse">
            <a:avLst/>
          </a:prstGeom>
          <a:solidFill>
            <a:srgbClr val="B3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1576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2A1A"/>
                </a:solidFill>
                <a:latin typeface="Cambria"/>
              </a:rPr>
              <a:t>The turnover tax wasn't 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29992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Play-by-play says Brown's live-ball TO rate (1.75/36) was LOWER than Tatum's (1.84) in 2024-25. That angle exonerates him — and the media consensus graded the trade for Philadelphia.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12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An argument that can't survive its own counter-evidence isn't worth presenting.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Every brief in this project ships with its weakest points attached.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640080"/>
            <a:ext cx="310896" cy="310896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CD3C6"/>
                </a:solidFill>
                <a:latin typeface="Calibri"/>
              </a:rPr>
              <a:t>BOTTOM LINE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37943"/>
            <a:ext cx="164592" cy="164592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The fit was real and it was drifting.  </a:t>
            </a:r>
            <a:r>
              <a:rPr sz="1500" b="0" i="0">
                <a:solidFill>
                  <a:srgbClr val="CFE0D6"/>
                </a:solidFill>
                <a:latin typeface="Calibri"/>
              </a:rPr>
              <a:t>Fewer threes, doubled long twos, two-thirds self-created — with no shot-making premium to pay for it.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072384"/>
            <a:ext cx="164592" cy="164592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The value was contingent.  </a:t>
            </a:r>
            <a:r>
              <a:rPr sz="1500" b="0" i="0">
                <a:solidFill>
                  <a:srgbClr val="CFE0D6"/>
                </a:solidFill>
                <a:latin typeface="Calibri"/>
              </a:rPr>
              <a:t>Brown-led lineups needed Tatum and White on the floor; at 34% of the cap, contingent is expensive.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306824"/>
            <a:ext cx="164592" cy="164592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The return buys identity and optionality.  </a:t>
            </a:r>
            <a:r>
              <a:rPr sz="1500" b="0" i="0">
                <a:solidFill>
                  <a:srgbClr val="CFE0D6"/>
                </a:solidFill>
                <a:latin typeface="Calibri"/>
              </a:rPr>
              <a:t>George takes the system's shots; two firsts add the cheap, controllable assets a capped roster can't otherwise acquire.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235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8FA89B"/>
                </a:solidFill>
                <a:latin typeface="Calibri"/>
              </a:rPr>
              <a:t>Honesty note: </a:t>
            </a:r>
            <a:r>
              <a:rPr sz="1250" b="0" i="1">
                <a:solidFill>
                  <a:srgbClr val="8FA89B"/>
                </a:solidFill>
                <a:latin typeface="Calibri"/>
              </a:rPr>
              <a:t>this deck argues Boston's side on purpose; the neutral scorecard, the Tatum-injury confound, and the media's pro-Philadelphia consensus are all documented in the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
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566928"/>
            <a:ext cx="310896" cy="310896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CD3C6"/>
                </a:solidFill>
                <a:latin typeface="Calibri"/>
              </a:rPr>
              <a:t>BOSTON CELTICS  ·  FIT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Did Jaylen Brown Fit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BA9653"/>
                </a:solidFill>
                <a:latin typeface="Cambria"/>
              </a:rPr>
              <a:t>the Boston System?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CFE0D6"/>
                </a:solidFill>
                <a:latin typeface="Calibri"/>
              </a:rPr>
              <a:t>On July 1, 2026 Boston traded Brown to Philadelphia for Paul George and picks. This is the audit, built the day after: a neutral scorecard, the strongest evidence-based case for the trade, and every counter-argument we could find.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FA89B"/>
                </a:solidFill>
                <a:latin typeface="Calibri"/>
              </a:rPr>
              <a:t>Numbers, not takes · nba_api + Basketball-Reference · unit-tested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A $53M wing, a movement-3 system, and a real trade to audit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007A33"/>
                </a:solidFill>
                <a:latin typeface="Cambria"/>
              </a:rPr>
              <a:t>34.4%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A2A1A"/>
                </a:solidFill>
                <a:latin typeface="Calibri"/>
              </a:rPr>
              <a:t>of the salary 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$53.1M in 2025-26 — over a third of the sheet on one wing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B3403A"/>
                </a:solidFill>
                <a:latin typeface="Cambria"/>
              </a:rPr>
              <a:t>+16%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A2A1A"/>
                </a:solidFill>
                <a:latin typeface="Calibri"/>
              </a:rPr>
              <a:t>worse shot diet, YoY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bad-shot index 0.328 → 0.379 — drifting away from the system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007A33"/>
                </a:solidFill>
                <a:latin typeface="Cambr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A2A1A"/>
                </a:solidFill>
                <a:latin typeface="Calibri"/>
              </a:rPr>
              <a:t>assets back from PHI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Paul George, a 2028 first, a 2031 unprotected first, two seconds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20232A"/>
                </a:solidFill>
                <a:latin typeface="Calibri"/>
              </a:rPr>
              <a:t>Boston's edge was a movement-3 offense with five connected players. </a:t>
            </a:r>
            <a:r>
              <a:rPr sz="1500" b="0" i="0">
                <a:solidFill>
                  <a:srgbClr val="20232A"/>
                </a:solidFill>
                <a:latin typeface="Calibri"/>
              </a:rPr>
              <a:t>The question this deck answers with data: did Brown's game pull with that identity or against it — and was the return worth it? </a:t>
            </a:r>
            <a:r>
              <a:rPr sz="1500" b="1" i="0">
                <a:solidFill>
                  <a:srgbClr val="007A33"/>
                </a:solidFill>
                <a:latin typeface="Calibri"/>
              </a:rPr>
              <a:t>Every chart comes from a reproducible, unit-tested pipeline.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THE SHOT DIET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The shot profile was drifting away from what Boston wins with</a:t>
            </a:r>
          </a:p>
        </p:txBody>
      </p:sp>
      <p:pic>
        <p:nvPicPr>
          <p:cNvPr id="4" name="Picture 3" descr="case_for_moving_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949440" cy="3049337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726679" y="1819656"/>
            <a:ext cx="146304" cy="146304"/>
          </a:xfrm>
          <a:prstGeom prst="ellipse">
            <a:avLst/>
          </a:prstGeom>
          <a:solidFill>
            <a:srgbClr val="B34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19288" y="178308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Fewer threes, doubled long twos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30" b="0" i="0">
                <a:solidFill>
                  <a:srgbClr val="6B7280"/>
                </a:solidFill>
                <a:latin typeface="Calibri"/>
              </a:rPr>
              <a:t>3PT rate fell 0.32 → 0.26; long-two rate doubled 0.07 → 0.14 — the one shot the system exists to kill.</a:t>
            </a:r>
          </a:p>
        </p:txBody>
      </p:sp>
      <p:sp>
        <p:nvSpPr>
          <p:cNvPr id="7" name="Oval 6"/>
          <p:cNvSpPr/>
          <p:nvPr/>
        </p:nvSpPr>
        <p:spPr>
          <a:xfrm>
            <a:off x="7726679" y="3026664"/>
            <a:ext cx="146304" cy="146304"/>
          </a:xfrm>
          <a:prstGeom prst="ellipse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19288" y="2990088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Two-thirds self-created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30" b="0" i="0">
                <a:solidFill>
                  <a:srgbClr val="6B7280"/>
                </a:solidFill>
                <a:latin typeface="Calibri"/>
              </a:rPr>
              <a:t>Iso / 3+ dribble rate rose 0.53 → 0.64, with more late-clock bailouts (0.18 → 0.22).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4233672"/>
            <a:ext cx="146304" cy="146304"/>
          </a:xfrm>
          <a:prstGeom prst="ellipse">
            <a:avLst/>
          </a:prstGeom>
          <a:solidFill>
            <a:srgbClr val="00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19288" y="4197096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No tough-shot premium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30" b="0" i="0">
                <a:solidFill>
                  <a:srgbClr val="6B7280"/>
                </a:solidFill>
                <a:latin typeface="Calibri"/>
              </a:rPr>
              <a:t>The xFG model (2,661 shots) scores his shot-making at expectation — ≈ +0.000 both years. The difficulty is self-inflicted.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57784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0232A"/>
                </a:solidFill>
                <a:latin typeface="Calibri"/>
              </a:rPr>
              <a:t>This is the cleanest, least-confounded number in the file: </a:t>
            </a:r>
            <a:r>
              <a:rPr sz="1400" b="1" i="0">
                <a:solidFill>
                  <a:srgbClr val="0A2A1A"/>
                </a:solidFill>
                <a:latin typeface="Calibri"/>
              </a:rPr>
              <a:t>the possession-termination profile trended away from the identity, with no shot-making bailout.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CONTINGENT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The production needed Tatum and White to prop it up</a:t>
            </a:r>
          </a:p>
        </p:txBody>
      </p:sp>
      <p:pic>
        <p:nvPicPr>
          <p:cNvPr id="4" name="Picture 3" descr="with_without_net_2025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035040" cy="387109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858000" y="1819656"/>
            <a:ext cx="146304" cy="146304"/>
          </a:xfrm>
          <a:prstGeom prst="ellipse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50608" y="178308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0A2A1A"/>
                </a:solidFill>
                <a:latin typeface="Calibri"/>
              </a:rPr>
              <a:t>With Tatum: +16.2 · without: +4.8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An 11.3-point swing in 2025-26. Brown's lineups won when the infrastructure was on the floor.</a:t>
            </a:r>
          </a:p>
        </p:txBody>
      </p:sp>
      <p:sp>
        <p:nvSpPr>
          <p:cNvPr id="7" name="Oval 6"/>
          <p:cNvSpPr/>
          <p:nvPr/>
        </p:nvSpPr>
        <p:spPr>
          <a:xfrm>
            <a:off x="6858000" y="3191256"/>
            <a:ext cx="146304" cy="146304"/>
          </a:xfrm>
          <a:prstGeom prst="ellipse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50608" y="315468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0A2A1A"/>
                </a:solidFill>
                <a:latin typeface="Calibri"/>
              </a:rPr>
              <a:t>With White: +9.4 · without: −1.0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Same story with the other connector — Brown-led lineups without White were underwater.</a:t>
            </a:r>
          </a:p>
        </p:txBody>
      </p:sp>
      <p:sp>
        <p:nvSpPr>
          <p:cNvPr id="9" name="Oval 8"/>
          <p:cNvSpPr/>
          <p:nvPr/>
        </p:nvSpPr>
        <p:spPr>
          <a:xfrm>
            <a:off x="6858000" y="4562856"/>
            <a:ext cx="146304" cy="146304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50608" y="452628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0A2A1A"/>
                </a:solidFill>
                <a:latin typeface="Calibri"/>
              </a:rPr>
              <a:t>The honest caveat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Tatum's injury contaminates the 2025-26 split; the confound is documented, not hidden. It softens — but doesn't reverse — the pattern.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59436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1">
                <a:solidFill>
                  <a:srgbClr val="007A33"/>
                </a:solidFill>
                <a:latin typeface="Calibri"/>
              </a:rPr>
              <a:t>A $53M player whose value is contingent on his co-stars is a fit problem, not a star.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THE HIERARCHY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Tatum-led was the best version of the offense — together was the worst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75104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 i="0">
                <a:solidFill>
                  <a:srgbClr val="007A33"/>
                </a:solidFill>
                <a:latin typeface="Cambria"/>
              </a:rPr>
              <a:t>+11.9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834640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0A2A1A"/>
                </a:solidFill>
                <a:latin typeface="Calibri"/>
              </a:rPr>
              <a:t>Tatum-led (Brown off)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172968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1,212 min · 2024-25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783080"/>
            <a:ext cx="3502152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975104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 i="0">
                <a:solidFill>
                  <a:srgbClr val="0A2A1A"/>
                </a:solidFill>
                <a:latin typeface="Cambria"/>
              </a:rPr>
              <a:t>+9.8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834640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0A2A1A"/>
                </a:solidFill>
                <a:latin typeface="Calibri"/>
              </a:rPr>
              <a:t>Brown-led (Tatum off)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172968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753 min · 2024-25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783080"/>
            <a:ext cx="3502152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1975104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 i="0">
                <a:solidFill>
                  <a:srgbClr val="B3403A"/>
                </a:solidFill>
                <a:latin typeface="Cambria"/>
              </a:rPr>
              <a:t>+7.6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834640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0A2A1A"/>
                </a:solidFill>
                <a:latin typeface="Calibri"/>
              </a:rPr>
              <a:t>the two together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172968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1,411 min · 2024-25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16052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A2A1A"/>
                </a:solidFill>
                <a:latin typeface="Calibri"/>
              </a:rPr>
              <a:t>Net rating of five-man lineups, the healthy season — first-option basketball beat load-sharing.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745736"/>
            <a:ext cx="146304" cy="146304"/>
          </a:xfrm>
          <a:prstGeom prst="ellipse">
            <a:avLst/>
          </a:prstGeom>
          <a:solidFill>
            <a:srgbClr val="00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709160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 i="0">
                <a:solidFill>
                  <a:srgbClr val="0A2A1A"/>
                </a:solidFill>
                <a:latin typeface="Calibri"/>
              </a:rPr>
              <a:t>Tatum's diet IS the system  </a:t>
            </a:r>
            <a:r>
              <a:rPr sz="1250" b="0" i="0">
                <a:solidFill>
                  <a:srgbClr val="6B7280"/>
                </a:solidFill>
                <a:latin typeface="Calibri"/>
              </a:rPr>
              <a:t>Half his shots are threes (0.498 vs Brown's 0.262) and his long-two rate is 0.059 vs Brown's 0.142. His self-creation terminates in the anchor shot; Brown's terminated in the shot the system avoids.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586984"/>
            <a:ext cx="146304" cy="146304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5550408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 i="0">
                <a:solidFill>
                  <a:srgbClr val="0A2A1A"/>
                </a:solidFill>
                <a:latin typeface="Calibri"/>
              </a:rPr>
              <a:t>Read the caveats before quoting  </a:t>
            </a:r>
            <a:r>
              <a:rPr sz="1250" b="0" i="0">
                <a:solidFill>
                  <a:srgbClr val="6B7280"/>
                </a:solidFill>
                <a:latin typeface="Calibri"/>
              </a:rPr>
              <a:t>'Led' minutes include bench-heavy and garbage-time units, and 2025-26 is an injury-season shard (204 Tatum-led minutes). The 2024-25 comparison is the clean one — and it still favors the hierarchy.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THE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Max-contract price, below-median-efficiency production</a:t>
            </a:r>
          </a:p>
        </p:txBody>
      </p:sp>
      <p:pic>
        <p:nvPicPr>
          <p:cNvPr id="4" name="Picture 3" descr="efficiency_com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08760"/>
            <a:ext cx="9966960" cy="41117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0232A"/>
                </a:solidFill>
                <a:latin typeface="Calibri"/>
              </a:rPr>
              <a:t>6.9 WS on $53.1M = $7.7M per win share at 34% of the cap, with a 0.573 TS% — below the max-wing median. </a:t>
            </a:r>
            <a:r>
              <a:rPr sz="1400" b="1" i="0">
                <a:solidFill>
                  <a:srgbClr val="007A33"/>
                </a:solidFill>
                <a:latin typeface="Calibri"/>
              </a:rPr>
              <a:t>Picks 15-30 buy the same wins at ~$2.1M/WS on rookie deals.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George is the cleaner stylistic fit — and the picks are the point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65836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99339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A2A1A"/>
                </a:solidFill>
                <a:latin typeface="Cambria"/>
              </a:rPr>
              <a:t>2025-26 shot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239572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6B7280"/>
                </a:solidFill>
                <a:latin typeface="Calibri"/>
              </a:rPr>
              <a:t>BROWN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239572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007A33"/>
                </a:solidFill>
                <a:latin typeface="Calibri"/>
              </a:rPr>
              <a:t>GEORGE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74320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3PT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74320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Calibri"/>
              </a:rPr>
              <a:t>0.262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74320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07A33"/>
                </a:solidFill>
                <a:latin typeface="Calibri"/>
              </a:rPr>
              <a:t>0.497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9184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Catch-&amp;-shoot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29184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Calibri"/>
              </a:rPr>
              <a:t>0.163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29184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07A33"/>
                </a:solidFill>
                <a:latin typeface="Calibri"/>
              </a:rPr>
              <a:t>0.409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84048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Iso / 3+ dribble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84048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Calibri"/>
              </a:rPr>
              <a:t>0.639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384048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07A33"/>
                </a:solidFill>
                <a:latin typeface="Calibri"/>
              </a:rPr>
              <a:t>0.404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438912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Contested-shot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38912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Calibri"/>
              </a:rPr>
              <a:t>0.517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438912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07A33"/>
                </a:solidFill>
                <a:latin typeface="Calibri"/>
              </a:rPr>
              <a:t>0.370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937759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Bad-shot 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937759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Calibri"/>
              </a:rPr>
              <a:t>0.379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4937759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07A33"/>
                </a:solidFill>
                <a:latin typeface="Calibri"/>
              </a:rPr>
              <a:t>0.273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5138928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6B7280"/>
                </a:solidFill>
                <a:latin typeface="Calibri"/>
              </a:rPr>
              <a:t>George takes the shots the system is built to generate — he plugs in instead of stopping 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52360" y="1783080"/>
            <a:ext cx="4160520" cy="3977639"/>
          </a:xfrm>
          <a:prstGeom prst="roundRect">
            <a:avLst>
              <a:gd name="adj" fmla="val 8000"/>
            </a:avLst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79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CD3C6"/>
                </a:solidFill>
                <a:latin typeface="Calibri"/>
              </a:rPr>
              <a:t>PLUS THE PICKS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246888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Cambria"/>
              </a:rPr>
              <a:t>2028 first + 2031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Cambria"/>
              </a:rPr>
              <a:t>unprotected first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352044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>
                <a:solidFill>
                  <a:srgbClr val="CFE0D6"/>
                </a:solidFill>
                <a:latin typeface="Calibri"/>
              </a:rPr>
              <a:t>Under the post-2019 flattened lottery — exact odds enumerated across all 24,024 seed permutations — late-lottery firsts convey materially more top-4 equity than the old system.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507492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 i="1">
                <a:solidFill>
                  <a:srgbClr val="9AB2A4"/>
                </a:solidFill>
                <a:latin typeface="Calibri"/>
              </a:rPr>
              <a:t>Cheap, controllable, tradeable — the assets a capped-out roster can't otherwise get.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WHERE THE CASE IS WEAKEST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The counter-evidence, on the record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7" y="2130552"/>
            <a:ext cx="384048" cy="384048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71576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A2A1A"/>
                </a:solidFill>
                <a:latin typeface="Cambria"/>
              </a:rPr>
              <a:t>The Tatum confound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200400"/>
            <a:ext cx="299923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The 2025-26 with/without splits are contaminated by Tatum's injury absence. The direction survives; the magnitude is uncertain.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26864" y="2130552"/>
            <a:ext cx="384048" cy="384048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71576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A2A1A"/>
                </a:solidFill>
                <a:latin typeface="Cambria"/>
              </a:rPr>
              <a:t>Win Shares are blunt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200400"/>
            <a:ext cx="299923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Cost-per-WS is a crude value metric — it's used because it spans both seasons and the full comp cohort, not because it's perfect.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0" y="2130552"/>
            <a:ext cx="384048" cy="384048"/>
          </a:xfrm>
          <a:prstGeom prst="ellipse">
            <a:avLst/>
          </a:prstGeom>
          <a:solidFill>
            <a:srgbClr val="B34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71576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A2A1A"/>
                </a:solidFill>
                <a:latin typeface="Cambria"/>
              </a:rPr>
              <a:t>The market disagrees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200400"/>
            <a:ext cx="299923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Media consensus graded the real trade for Philadelphia. Raw production loss is real; this deck argues fit and optionality, and says so openly.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12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An argument that can't survive its own counter-evidence isn't worth presenting. </a:t>
            </a:r>
            <a:r>
              <a:rPr sz="1400" b="0" i="0">
                <a:solidFill>
                  <a:srgbClr val="6B7280"/>
                </a:solidFill>
                <a:latin typeface="Calibri"/>
              </a:rPr>
              <a:t>Every brief in this project ships with its weakest points attached.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640080"/>
            <a:ext cx="310896" cy="310896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CD3C6"/>
                </a:solidFill>
                <a:latin typeface="Calibri"/>
              </a:rPr>
              <a:t>BOTTOM LINE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37943"/>
            <a:ext cx="164592" cy="164592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The fit was real and it was drifting.  </a:t>
            </a:r>
            <a:r>
              <a:rPr sz="1500" b="0" i="0">
                <a:solidFill>
                  <a:srgbClr val="CFE0D6"/>
                </a:solidFill>
                <a:latin typeface="Calibri"/>
              </a:rPr>
              <a:t>Fewer threes, doubled long twos, two-thirds self-created — with no shot-making premium to pay for it.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3072384"/>
            <a:ext cx="164592" cy="164592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The value was contingent.  </a:t>
            </a:r>
            <a:r>
              <a:rPr sz="1500" b="0" i="0">
                <a:solidFill>
                  <a:srgbClr val="CFE0D6"/>
                </a:solidFill>
                <a:latin typeface="Calibri"/>
              </a:rPr>
              <a:t>Brown-led lineups needed Tatum and White on the floor; at 34% of the cap, contingent is expensive.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4306824"/>
            <a:ext cx="164592" cy="164592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The return buys identity and optionality.  </a:t>
            </a:r>
            <a:r>
              <a:rPr sz="1500" b="0" i="0">
                <a:solidFill>
                  <a:srgbClr val="CFE0D6"/>
                </a:solidFill>
                <a:latin typeface="Calibri"/>
              </a:rPr>
              <a:t>George takes the system's shots; two firsts add the cheap, controllable assets a capped roster can't otherwise acquire.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8FA89B"/>
                </a:solidFill>
                <a:latin typeface="Calibri"/>
              </a:rPr>
              <a:t>Honesty note: </a:t>
            </a:r>
            <a:r>
              <a:rPr sz="1250" b="0" i="1">
                <a:solidFill>
                  <a:srgbClr val="8FA89B"/>
                </a:solidFill>
                <a:latin typeface="Calibri"/>
              </a:rPr>
              <a:t>this deck argues Boston's side on purpose; the neutral scorecard, the Tatum-injury confound, and the media's pro-Philadelphia consensus are all documented in the repo.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